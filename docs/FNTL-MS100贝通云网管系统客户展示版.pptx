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9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7.svg" ContentType="image/svg+xml"/>
  <Override PartName="/ppt/media/image28.svg" ContentType="image/svg+xml"/>
  <Override PartName="/ppt/media/image29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media/image33.svg" ContentType="image/svg+xml"/>
  <Override PartName="/ppt/media/image34.svg" ContentType="image/svg+xml"/>
  <Override PartName="/ppt/media/image35.svg" ContentType="image/svg+xml"/>
  <Override PartName="/ppt/media/image36.svg" ContentType="image/svg+xml"/>
  <Override PartName="/ppt/media/image37.svg" ContentType="image/svg+xml"/>
  <Override PartName="/ppt/media/image38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9.sv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Relationship Id="rId3" Type="http://schemas.openxmlformats.org/officeDocument/2006/relationships/image" Target="../media/image14.sv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Relationship Id="rId3" Type="http://schemas.openxmlformats.org/officeDocument/2006/relationships/image" Target="../media/image19.svg"/><Relationship Id="rId2" Type="http://schemas.openxmlformats.org/officeDocument/2006/relationships/image" Target="../media/image3.png"/><Relationship Id="rId1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svg"/><Relationship Id="rId8" Type="http://schemas.openxmlformats.org/officeDocument/2006/relationships/image" Target="../media/image32.svg"/><Relationship Id="rId7" Type="http://schemas.openxmlformats.org/officeDocument/2006/relationships/image" Target="../media/image31.svg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4" Type="http://schemas.openxmlformats.org/officeDocument/2006/relationships/image" Target="../media/image28.svg"/><Relationship Id="rId3" Type="http://schemas.openxmlformats.org/officeDocument/2006/relationships/image" Target="../media/image27.svg"/><Relationship Id="rId2" Type="http://schemas.openxmlformats.org/officeDocument/2006/relationships/image" Target="../media/image4.svg"/><Relationship Id="rId12" Type="http://schemas.openxmlformats.org/officeDocument/2006/relationships/notesSlide" Target="../notesSlides/notesSlide9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34.sv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.png"/><Relationship Id="rId6" Type="http://schemas.openxmlformats.org/officeDocument/2006/relationships/image" Target="../media/image1.png"/><Relationship Id="rId5" Type="http://schemas.openxmlformats.org/officeDocument/2006/relationships/image" Target="../media/image38.svg"/><Relationship Id="rId4" Type="http://schemas.openxmlformats.org/officeDocument/2006/relationships/image" Target="../media/image37.svg"/><Relationship Id="rId3" Type="http://schemas.openxmlformats.org/officeDocument/2006/relationships/image" Target="../media/image36.svg"/><Relationship Id="rId2" Type="http://schemas.openxmlformats.org/officeDocument/2006/relationships/image" Target="../media/image35.sv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2232"/>
          </a:solidFill>
          <a:ln w="0">
            <a:solidFill>
              <a:srgbClr val="0D2232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2232"/>
          </a:solidFill>
          <a:ln w="0">
            <a:solidFill>
              <a:srgbClr val="0D2232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734300" y="0"/>
            <a:ext cx="4457700" cy="6858000"/>
          </a:xfrm>
          <a:prstGeom prst="rect">
            <a:avLst/>
          </a:prstGeom>
          <a:solidFill>
            <a:srgbClr val="123B4E"/>
          </a:solidFill>
          <a:ln w="0">
            <a:solidFill>
              <a:srgbClr val="123B4E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42950" y="781050"/>
            <a:ext cx="495300" cy="47625"/>
          </a:xfrm>
          <a:prstGeom prst="rect">
            <a:avLst/>
          </a:prstGeom>
          <a:solidFill>
            <a:srgbClr val="11A6B3"/>
          </a:solidFill>
          <a:ln w="0">
            <a:solidFill>
              <a:srgbClr val="11A6B3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42950" y="1057275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9ADCE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9ADCE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FNTL-MS100</a:t>
            </a:r>
            <a:endParaRPr sz="1350" b="1">
              <a:solidFill>
                <a:srgbClr val="9ADCE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1447800"/>
            <a:ext cx="5143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4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贝通云网管系统</a:t>
            </a:r>
            <a:endParaRPr sz="43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2343150"/>
            <a:ext cx="6096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650" b="0">
                <a:solidFill>
                  <a:srgbClr val="D7EEF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D7EEF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系统介绍｜集中监控、告警闭环、记录追溯、授权控制</a:t>
            </a:r>
            <a:endParaRPr sz="1650" b="0">
              <a:solidFill>
                <a:srgbClr val="D7EEF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42950" y="3619500"/>
            <a:ext cx="1381125" cy="914400"/>
          </a:xfrm>
          <a:prstGeom prst="rect">
            <a:avLst/>
          </a:prstGeom>
          <a:solidFill>
            <a:srgbClr val="16384A"/>
          </a:solidFill>
          <a:ln w="9525">
            <a:solidFill>
              <a:srgbClr val="31596A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95350" y="3800475"/>
            <a:ext cx="10763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统一入口</a:t>
            </a:r>
            <a:endParaRPr sz="15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95350" y="4105275"/>
            <a:ext cx="10763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A9CA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A9CA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BT / SY 双系统</a:t>
            </a:r>
            <a:endParaRPr sz="975" b="0">
              <a:solidFill>
                <a:srgbClr val="A9CA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362200" y="3619500"/>
            <a:ext cx="1381125" cy="914400"/>
          </a:xfrm>
          <a:prstGeom prst="rect">
            <a:avLst/>
          </a:prstGeom>
          <a:solidFill>
            <a:srgbClr val="16384A"/>
          </a:solidFill>
          <a:ln w="9525">
            <a:solidFill>
              <a:srgbClr val="31596A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2514600" y="3800475"/>
            <a:ext cx="10763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实时可视</a:t>
            </a:r>
            <a:endParaRPr sz="15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514600" y="4105275"/>
            <a:ext cx="10763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A9CA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A9CA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拓扑 + 设备详情</a:t>
            </a:r>
            <a:endParaRPr sz="975" b="0">
              <a:solidFill>
                <a:srgbClr val="A9CA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981450" y="3619500"/>
            <a:ext cx="1381125" cy="914400"/>
          </a:xfrm>
          <a:prstGeom prst="rect">
            <a:avLst/>
          </a:prstGeom>
          <a:solidFill>
            <a:srgbClr val="16384A"/>
          </a:solidFill>
          <a:ln w="9525">
            <a:solidFill>
              <a:srgbClr val="31596A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133850" y="3800475"/>
            <a:ext cx="10763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处置闭环</a:t>
            </a:r>
            <a:endParaRPr sz="15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133850" y="4105275"/>
            <a:ext cx="10763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3727"/>
          </a:bodyPr>
          <a:lstStyle/>
          <a:p>
            <a:pPr algn="l">
              <a:defRPr sz="975" b="0">
                <a:solidFill>
                  <a:srgbClr val="A9CA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A9CA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告警确认 + 声音提醒</a:t>
            </a:r>
            <a:endParaRPr sz="975" b="0">
              <a:solidFill>
                <a:srgbClr val="A9CA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600700" y="3619500"/>
            <a:ext cx="1381125" cy="914400"/>
          </a:xfrm>
          <a:prstGeom prst="rect">
            <a:avLst/>
          </a:prstGeom>
          <a:solidFill>
            <a:srgbClr val="16384A"/>
          </a:solidFill>
          <a:ln w="9525">
            <a:solidFill>
              <a:srgbClr val="31596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753100" y="3800475"/>
            <a:ext cx="10763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可追溯</a:t>
            </a:r>
            <a:endParaRPr sz="15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753100" y="4105275"/>
            <a:ext cx="10763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3727"/>
          </a:bodyPr>
          <a:lstStyle/>
          <a:p>
            <a:pPr algn="l">
              <a:defRPr sz="975" b="0">
                <a:solidFill>
                  <a:srgbClr val="A9CA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A9CA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记录导出 + 操作审计</a:t>
            </a:r>
            <a:endParaRPr sz="975" b="0">
              <a:solidFill>
                <a:srgbClr val="A9CA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143750" y="876300"/>
            <a:ext cx="4191000" cy="2724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0D8"/>
            </a:solidFill>
            <a:prstDash val="solid"/>
          </a:ln>
        </p:spPr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0" y="964406"/>
            <a:ext cx="4076700" cy="2547938"/>
          </a:xfrm>
          <a:prstGeom prst="rect">
            <a:avLst/>
          </a:prstGeom>
        </p:spPr>
      </p:pic>
      <p:sp>
        <p:nvSpPr>
          <p:cNvPr id="23" name="矩形 22"/>
          <p:cNvSpPr>
            <a:spLocks noGrp="1"/>
          </p:cNvSpPr>
          <p:nvPr/>
        </p:nvSpPr>
        <p:spPr>
          <a:xfrm>
            <a:off x="7905750" y="3257550"/>
            <a:ext cx="3429000" cy="2133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0D8"/>
            </a:solidFill>
            <a:prstDash val="solid"/>
          </a:ln>
        </p:spPr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4810" y="3314700"/>
            <a:ext cx="3230880" cy="2019300"/>
          </a:xfrm>
          <a:prstGeom prst="rect">
            <a:avLst/>
          </a:prstGeom>
        </p:spPr>
      </p:pic>
      <p:sp>
        <p:nvSpPr>
          <p:cNvPr id="25" name="矩形 24"/>
          <p:cNvSpPr>
            <a:spLocks noGrp="1"/>
          </p:cNvSpPr>
          <p:nvPr/>
        </p:nvSpPr>
        <p:spPr>
          <a:xfrm>
            <a:off x="7620000" y="5695950"/>
            <a:ext cx="3429000" cy="304800"/>
          </a:xfrm>
          <a:prstGeom prst="rect">
            <a:avLst/>
          </a:prstGeom>
          <a:solidFill>
            <a:srgbClr val="0D2232"/>
          </a:solidFill>
          <a:ln w="9525">
            <a:solidFill>
              <a:srgbClr val="3C7381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734300" y="5753100"/>
            <a:ext cx="3200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CDEFF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DEFF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从状态发现到事件追溯的一套值守工作台</a:t>
            </a:r>
            <a:endParaRPr sz="975" b="1">
              <a:solidFill>
                <a:srgbClr val="CDEFF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42950" y="617220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9AB8C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9AB8C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产品介绍｜2026-06-01</a:t>
            </a:r>
            <a:endParaRPr sz="975" b="0">
              <a:solidFill>
                <a:srgbClr val="9AB8C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66750" y="6515100"/>
            <a:ext cx="819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FNTL-MS100 贝通云网管系统 | 产品介绍</a:t>
            </a:r>
            <a:endParaRPr sz="750" b="0">
              <a:solidFill>
                <a:srgbClr val="8A83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1277600" y="641985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975" b="0">
              <a:solidFill>
                <a:srgbClr val="8A83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F7F4EE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D3B4A"/>
          </a:solidFill>
          <a:ln w="0">
            <a:solidFill>
              <a:srgbClr val="0D3B4A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485775"/>
            <a:ext cx="76200" cy="76200"/>
          </a:xfrm>
          <a:prstGeom prst="rect">
            <a:avLst/>
          </a:prstGeom>
          <a:solidFill>
            <a:srgbClr val="11A6B3"/>
          </a:solidFill>
          <a:ln w="0">
            <a:solidFill>
              <a:srgbClr val="11A6B3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38200" y="4381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11A6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1A6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客户痛点</a:t>
            </a:r>
            <a:endParaRPr sz="975" b="1">
              <a:solidFill>
                <a:srgbClr val="11A6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742950"/>
            <a:ext cx="74295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1575"/>
          </a:bodyPr>
          <a:lstStyle/>
          <a:p>
            <a:pPr algn="l">
              <a:lnSpc>
                <a:spcPct val="105000"/>
              </a:lnSpc>
              <a:buNone/>
              <a:defRPr sz="292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92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分散巡检、告警滞后和记录断点，会放大现场运维风险。</a:t>
            </a:r>
            <a:endParaRPr sz="2925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1619250"/>
            <a:ext cx="8096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1808"/>
          </a:bodyPr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系统通过统一控制台，将现场状态、告警处置和历史记录集中呈现，帮助日常值守从经验判断转为可视、可查、可复核的流程。</a:t>
            </a:r>
            <a:endParaRPr sz="150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2457450"/>
            <a:ext cx="2476500" cy="438150"/>
          </a:xfrm>
          <a:prstGeom prst="rect">
            <a:avLst/>
          </a:prstGeom>
          <a:solidFill>
            <a:srgbClr val="0D3B4A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19150" y="2590800"/>
            <a:ext cx="2171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客户现场常见问题</a:t>
            </a:r>
            <a:endParaRPr sz="11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143250" y="2457450"/>
            <a:ext cx="2952750" cy="438150"/>
          </a:xfrm>
          <a:prstGeom prst="rect">
            <a:avLst/>
          </a:prstGeom>
          <a:solidFill>
            <a:srgbClr val="ECE7DD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295650" y="2590800"/>
            <a:ext cx="2647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风险表现</a:t>
            </a:r>
            <a:endParaRPr sz="1125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0" y="2457450"/>
            <a:ext cx="2952750" cy="438150"/>
          </a:xfrm>
          <a:prstGeom prst="rect">
            <a:avLst/>
          </a:prstGeom>
          <a:solidFill>
            <a:srgbClr val="ECE7DD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248400" y="2590800"/>
            <a:ext cx="2647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系统应对</a:t>
            </a:r>
            <a:endParaRPr sz="1125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048750" y="2457450"/>
            <a:ext cx="2190750" cy="438150"/>
          </a:xfrm>
          <a:prstGeom prst="rect">
            <a:avLst/>
          </a:prstGeom>
          <a:solidFill>
            <a:srgbClr val="ECE7DD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201150" y="2590800"/>
            <a:ext cx="1885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客户收益</a:t>
            </a:r>
            <a:endParaRPr sz="1125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66750" y="2895600"/>
            <a:ext cx="2476500" cy="971550"/>
          </a:xfrm>
          <a:prstGeom prst="rect">
            <a:avLst/>
          </a:prstGeom>
          <a:solidFill>
            <a:srgbClr val="DDF5F7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19150" y="3067050"/>
            <a:ext cx="21717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57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状态看不全</a:t>
            </a:r>
            <a:endParaRPr sz="1575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143250" y="2895600"/>
            <a:ext cx="29527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3295650" y="3067050"/>
            <a:ext cx="26479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分散在不同设备、线路和后台页面，值守人员难以先看全局。</a:t>
            </a:r>
            <a:endParaRPr sz="120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096000" y="2895600"/>
            <a:ext cx="29527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248400" y="3067050"/>
            <a:ext cx="26479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统一拓扑总览，按设备/线路下钻到详情。</a:t>
            </a:r>
            <a:endParaRPr sz="120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048750" y="2895600"/>
            <a:ext cx="21907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201150" y="3067050"/>
            <a:ext cx="18859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全局可视，快速定位现场状态。</a:t>
            </a:r>
            <a:endParaRPr sz="120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66750" y="3867150"/>
            <a:ext cx="2476500" cy="971550"/>
          </a:xfrm>
          <a:prstGeom prst="rect">
            <a:avLst/>
          </a:prstGeom>
          <a:solidFill>
            <a:srgbClr val="FFF0D6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19150" y="4038600"/>
            <a:ext cx="21717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57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告警闭环弱</a:t>
            </a:r>
            <a:endParaRPr sz="1575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143250" y="3867150"/>
            <a:ext cx="29527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3295650" y="4038600"/>
            <a:ext cx="26479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声音提醒、现场处理、确认记录容易脱节。</a:t>
            </a:r>
            <a:endParaRPr sz="120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096000" y="3867150"/>
            <a:ext cx="29527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248400" y="4038600"/>
            <a:ext cx="26479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当前告警、颜色提示、声音控制和确认记录联动。</a:t>
            </a:r>
            <a:endParaRPr sz="120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048750" y="3867150"/>
            <a:ext cx="21907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9201150" y="4038600"/>
            <a:ext cx="18859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发现、确认、处置和复盘形成闭环。</a:t>
            </a:r>
            <a:endParaRPr sz="120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66750" y="4838700"/>
            <a:ext cx="2476500" cy="971550"/>
          </a:xfrm>
          <a:prstGeom prst="rect">
            <a:avLst/>
          </a:prstGeom>
          <a:solidFill>
            <a:srgbClr val="E2F5EA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19150" y="5010150"/>
            <a:ext cx="21717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57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追溯成本高</a:t>
            </a:r>
            <a:endParaRPr sz="1575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143250" y="4838700"/>
            <a:ext cx="29527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3295650" y="5010150"/>
            <a:ext cx="26479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历史告警、继电器动作、用户操作分散，事后复盘慢。</a:t>
            </a:r>
            <a:endParaRPr sz="120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096000" y="4838700"/>
            <a:ext cx="29527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248400" y="5010150"/>
            <a:ext cx="26479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多类记录集中查询，支持筛选、分页和导出。</a:t>
            </a:r>
            <a:endParaRPr sz="120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9048750" y="4838700"/>
            <a:ext cx="21907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9201150" y="5010150"/>
            <a:ext cx="18859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运行数据可沉淀为长期运维资产。</a:t>
            </a:r>
            <a:endParaRPr sz="120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66750" y="6515100"/>
            <a:ext cx="819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FNTL-MS100 贝通云网管系统 | 产品介绍</a:t>
            </a:r>
            <a:endParaRPr sz="750" b="0">
              <a:solidFill>
                <a:srgbClr val="8A83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11277600" y="641985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975" b="0">
              <a:solidFill>
                <a:srgbClr val="8A83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F7F4EE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D3B4A"/>
          </a:solidFill>
          <a:ln w="0">
            <a:solidFill>
              <a:srgbClr val="0D3B4A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485775"/>
            <a:ext cx="76200" cy="76200"/>
          </a:xfrm>
          <a:prstGeom prst="rect">
            <a:avLst/>
          </a:prstGeom>
          <a:solidFill>
            <a:srgbClr val="11A6B3"/>
          </a:solidFill>
          <a:ln w="0">
            <a:solidFill>
              <a:srgbClr val="11A6B3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38200" y="4381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11A6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1A6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系统定位</a:t>
            </a:r>
            <a:endParaRPr sz="975" b="1">
              <a:solidFill>
                <a:srgbClr val="11A6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742950"/>
            <a:ext cx="67627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9851"/>
          </a:bodyPr>
          <a:lstStyle/>
          <a:p>
            <a:pPr algn="l">
              <a:lnSpc>
                <a:spcPct val="105000"/>
              </a:lnSpc>
              <a:buNone/>
              <a:defRPr sz="31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1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系统把 BT/SY 两类设备纳入统一控制台。</a:t>
            </a:r>
            <a:endParaRPr sz="315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1428750"/>
            <a:ext cx="8572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6640"/>
          </a:bodyPr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前端不直接接触现场设备；实时采集和下行控制通过 Redis Streams 与边缘 Agent 解耦，既适配现场链路，也保留后端权限和审计边界。</a:t>
            </a:r>
            <a:endParaRPr sz="142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2438400"/>
            <a:ext cx="1676400" cy="1409700"/>
          </a:xfrm>
          <a:prstGeom prst="rect">
            <a:avLst/>
          </a:prstGeom>
          <a:solidFill>
            <a:srgbClr val="FFFFFF"/>
          </a:solidFill>
          <a:ln w="15240">
            <a:solidFill>
              <a:srgbClr val="0D3B4A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66750" y="2438400"/>
            <a:ext cx="1676400" cy="66675"/>
          </a:xfrm>
          <a:prstGeom prst="rect">
            <a:avLst/>
          </a:prstGeom>
          <a:solidFill>
            <a:srgbClr val="0D3B4A"/>
          </a:solidFill>
          <a:ln w="0">
            <a:solidFill>
              <a:srgbClr val="0D3B4A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19150" y="2667000"/>
            <a:ext cx="1371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前端控制台</a:t>
            </a:r>
            <a:endParaRPr sz="150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19150" y="3009900"/>
            <a:ext cx="1371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280"/>
          </a:bodyPr>
          <a:lstStyle/>
          <a:p>
            <a:pPr algn="l">
              <a:lnSpc>
                <a:spcPct val="113000"/>
              </a:lnSpc>
              <a:buNone/>
              <a:def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Vue 控制台</a:t>
            </a:r>
            <a:endParaRPr sz="101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3000"/>
              </a:lnSpc>
              <a:buNone/>
              <a:def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拓扑 / 告警 / 记录 / 控制</a:t>
            </a:r>
            <a:endParaRPr sz="101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05000" y="3448050"/>
            <a:ext cx="228600" cy="228600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2228850" y="3429000"/>
            <a:ext cx="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438400" y="3124200"/>
            <a:ext cx="209550" cy="28575"/>
          </a:xfrm>
          <a:prstGeom prst="rect">
            <a:avLst/>
          </a:prstGeom>
          <a:solidFill>
            <a:srgbClr val="D7D3C8"/>
          </a:solidFill>
          <a:ln w="0">
            <a:solidFill>
              <a:srgbClr val="D7D3C8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2609850" y="3076575"/>
            <a:ext cx="66675" cy="123825"/>
          </a:xfrm>
          <a:prstGeom prst="rect">
            <a:avLst/>
          </a:prstGeom>
          <a:solidFill>
            <a:srgbClr val="D7D3C8"/>
          </a:solidFill>
          <a:ln w="0">
            <a:solidFill>
              <a:srgbClr val="D7D3C8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2476500" y="2438400"/>
            <a:ext cx="1676400" cy="1409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2476500" y="2438400"/>
            <a:ext cx="1676400" cy="66675"/>
          </a:xfrm>
          <a:prstGeom prst="rect">
            <a:avLst/>
          </a:prstGeom>
          <a:solidFill>
            <a:srgbClr val="11A6B3"/>
          </a:solidFill>
          <a:ln w="0">
            <a:solidFill>
              <a:srgbClr val="11A6B3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2628900" y="2667000"/>
            <a:ext cx="1371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BT 后端</a:t>
            </a:r>
            <a:endParaRPr sz="150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628900" y="3009900"/>
            <a:ext cx="1371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280"/>
          </a:bodyPr>
          <a:lstStyle/>
          <a:p>
            <a:pPr algn="l">
              <a:lnSpc>
                <a:spcPct val="113000"/>
              </a:lnSpc>
              <a:buNone/>
              <a:def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Django / DRF / Channels</a:t>
            </a:r>
            <a:endParaRPr sz="101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3000"/>
              </a:lnSpc>
              <a:buNone/>
              <a:def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设备台账、告警、记录</a:t>
            </a:r>
            <a:endParaRPr sz="101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4750" y="3448050"/>
            <a:ext cx="228600" cy="228600"/>
          </a:xfrm>
          <a:prstGeom prst="rect">
            <a:avLst/>
          </a:prstGeom>
        </p:spPr>
      </p:pic>
      <p:sp>
        <p:nvSpPr>
          <p:cNvPr id="21" name="矩形 20"/>
          <p:cNvSpPr>
            <a:spLocks noGrp="1"/>
          </p:cNvSpPr>
          <p:nvPr/>
        </p:nvSpPr>
        <p:spPr>
          <a:xfrm>
            <a:off x="4038600" y="3429000"/>
            <a:ext cx="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248150" y="3124200"/>
            <a:ext cx="209550" cy="28575"/>
          </a:xfrm>
          <a:prstGeom prst="rect">
            <a:avLst/>
          </a:prstGeom>
          <a:solidFill>
            <a:srgbClr val="D7D3C8"/>
          </a:solidFill>
          <a:ln w="0">
            <a:solidFill>
              <a:srgbClr val="D7D3C8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419600" y="3076575"/>
            <a:ext cx="66675" cy="123825"/>
          </a:xfrm>
          <a:prstGeom prst="rect">
            <a:avLst/>
          </a:prstGeom>
          <a:solidFill>
            <a:srgbClr val="D7D3C8"/>
          </a:solidFill>
          <a:ln w="0">
            <a:solidFill>
              <a:srgbClr val="D7D3C8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286250" y="2438400"/>
            <a:ext cx="1676400" cy="1409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4286250" y="2438400"/>
            <a:ext cx="1676400" cy="66675"/>
          </a:xfrm>
          <a:prstGeom prst="rect">
            <a:avLst/>
          </a:prstGeom>
          <a:solidFill>
            <a:srgbClr val="F2A33A"/>
          </a:solidFill>
          <a:ln w="0">
            <a:solidFill>
              <a:srgbClr val="F2A33A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4438650" y="2667000"/>
            <a:ext cx="1371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SY 后端</a:t>
            </a:r>
            <a:endParaRPr sz="150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438650" y="3009900"/>
            <a:ext cx="1371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三方向状态、原始帧</a:t>
            </a:r>
            <a:endParaRPr sz="101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3000"/>
              </a:lnSpc>
              <a:buNone/>
              <a:def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变化量事件、串口命令</a:t>
            </a:r>
            <a:endParaRPr sz="101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24500" y="3448050"/>
            <a:ext cx="228600" cy="228600"/>
          </a:xfrm>
          <a:prstGeom prst="rect">
            <a:avLst/>
          </a:prstGeom>
        </p:spPr>
      </p:pic>
      <p:sp>
        <p:nvSpPr>
          <p:cNvPr id="29" name="矩形 28"/>
          <p:cNvSpPr>
            <a:spLocks noGrp="1"/>
          </p:cNvSpPr>
          <p:nvPr/>
        </p:nvSpPr>
        <p:spPr>
          <a:xfrm>
            <a:off x="5848350" y="3429000"/>
            <a:ext cx="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057900" y="3124200"/>
            <a:ext cx="209550" cy="28575"/>
          </a:xfrm>
          <a:prstGeom prst="rect">
            <a:avLst/>
          </a:prstGeom>
          <a:solidFill>
            <a:srgbClr val="D7D3C8"/>
          </a:solidFill>
          <a:ln w="0">
            <a:solidFill>
              <a:srgbClr val="D7D3C8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229350" y="3076575"/>
            <a:ext cx="66675" cy="123825"/>
          </a:xfrm>
          <a:prstGeom prst="rect">
            <a:avLst/>
          </a:prstGeom>
          <a:solidFill>
            <a:srgbClr val="D7D3C8"/>
          </a:solidFill>
          <a:ln w="0">
            <a:solidFill>
              <a:srgbClr val="D7D3C8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096000" y="2438400"/>
            <a:ext cx="1676400" cy="1409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6096000" y="2438400"/>
            <a:ext cx="1676400" cy="66675"/>
          </a:xfrm>
          <a:prstGeom prst="rect">
            <a:avLst/>
          </a:prstGeom>
          <a:solidFill>
            <a:srgbClr val="2F9E5E"/>
          </a:solidFill>
          <a:ln w="0">
            <a:solidFill>
              <a:srgbClr val="2F9E5E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6248400" y="2667000"/>
            <a:ext cx="1371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Redis Streams</a:t>
            </a:r>
            <a:endParaRPr sz="150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248400" y="3009900"/>
            <a:ext cx="1371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280"/>
          </a:bodyPr>
          <a:lstStyle/>
          <a:p>
            <a:pPr algn="l">
              <a:lnSpc>
                <a:spcPct val="113000"/>
              </a:lnSpc>
              <a:buNone/>
              <a:def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stream:udp:packets</a:t>
            </a:r>
            <a:endParaRPr sz="101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3000"/>
              </a:lnSpc>
              <a:buNone/>
              <a:def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sy.raw / sy-serial-commands</a:t>
            </a:r>
            <a:endParaRPr sz="101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34250" y="3448050"/>
            <a:ext cx="228600" cy="228600"/>
          </a:xfrm>
          <a:prstGeom prst="rect">
            <a:avLst/>
          </a:prstGeom>
        </p:spPr>
      </p:pic>
      <p:sp>
        <p:nvSpPr>
          <p:cNvPr id="37" name="矩形 36"/>
          <p:cNvSpPr>
            <a:spLocks noGrp="1"/>
          </p:cNvSpPr>
          <p:nvPr/>
        </p:nvSpPr>
        <p:spPr>
          <a:xfrm>
            <a:off x="7658100" y="3429000"/>
            <a:ext cx="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/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867650" y="3124200"/>
            <a:ext cx="209550" cy="28575"/>
          </a:xfrm>
          <a:prstGeom prst="rect">
            <a:avLst/>
          </a:prstGeom>
          <a:solidFill>
            <a:srgbClr val="D7D3C8"/>
          </a:solidFill>
          <a:ln w="0">
            <a:solidFill>
              <a:srgbClr val="D7D3C8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8039100" y="3076575"/>
            <a:ext cx="66675" cy="123825"/>
          </a:xfrm>
          <a:prstGeom prst="rect">
            <a:avLst/>
          </a:prstGeom>
          <a:solidFill>
            <a:srgbClr val="D7D3C8"/>
          </a:solidFill>
          <a:ln w="0">
            <a:solidFill>
              <a:srgbClr val="D7D3C8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7905750" y="2438400"/>
            <a:ext cx="1676400" cy="1409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7905750" y="2438400"/>
            <a:ext cx="1676400" cy="66675"/>
          </a:xfrm>
          <a:prstGeom prst="rect">
            <a:avLst/>
          </a:prstGeom>
          <a:solidFill>
            <a:srgbClr val="D9493F"/>
          </a:solidFill>
          <a:ln w="0">
            <a:solidFill>
              <a:srgbClr val="D9493F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8058150" y="2667000"/>
            <a:ext cx="1371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边缘 Agent</a:t>
            </a:r>
            <a:endParaRPr sz="150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8058150" y="3009900"/>
            <a:ext cx="1371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Windows 受保护 Agent</a:t>
            </a:r>
            <a:endParaRPr sz="101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3000"/>
              </a:lnSpc>
              <a:buNone/>
              <a:def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UDP / 串口收发</a:t>
            </a:r>
            <a:endParaRPr sz="101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0" y="3448050"/>
            <a:ext cx="228600" cy="228600"/>
          </a:xfrm>
          <a:prstGeom prst="rect">
            <a:avLst/>
          </a:prstGeom>
        </p:spPr>
      </p:pic>
      <p:sp>
        <p:nvSpPr>
          <p:cNvPr id="45" name="矩形 44"/>
          <p:cNvSpPr>
            <a:spLocks noGrp="1"/>
          </p:cNvSpPr>
          <p:nvPr/>
        </p:nvSpPr>
        <p:spPr>
          <a:xfrm>
            <a:off x="9467850" y="3429000"/>
            <a:ext cx="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/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9677400" y="3124200"/>
            <a:ext cx="209550" cy="28575"/>
          </a:xfrm>
          <a:prstGeom prst="rect">
            <a:avLst/>
          </a:prstGeom>
          <a:solidFill>
            <a:srgbClr val="D7D3C8"/>
          </a:solidFill>
          <a:ln w="0">
            <a:solidFill>
              <a:srgbClr val="D7D3C8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9848850" y="3076575"/>
            <a:ext cx="66675" cy="123825"/>
          </a:xfrm>
          <a:prstGeom prst="rect">
            <a:avLst/>
          </a:prstGeom>
          <a:solidFill>
            <a:srgbClr val="D7D3C8"/>
          </a:solidFill>
          <a:ln w="0">
            <a:solidFill>
              <a:srgbClr val="D7D3C8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9715500" y="2438400"/>
            <a:ext cx="1676400" cy="1409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9715500" y="2438400"/>
            <a:ext cx="1676400" cy="66675"/>
          </a:xfrm>
          <a:prstGeom prst="rect">
            <a:avLst/>
          </a:prstGeom>
          <a:solidFill>
            <a:srgbClr val="172033"/>
          </a:solidFill>
          <a:ln w="0">
            <a:solidFill>
              <a:srgbClr val="172033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9867900" y="2667000"/>
            <a:ext cx="1371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现场设备</a:t>
            </a:r>
            <a:endParaRPr sz="150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9867900" y="3009900"/>
            <a:ext cx="1371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线路、车间、方向邻站</a:t>
            </a:r>
            <a:endParaRPr sz="101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3000"/>
              </a:lnSpc>
              <a:buNone/>
              <a:def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状态字 / 继电器 / 告警</a:t>
            </a:r>
            <a:endParaRPr sz="101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53750" y="3448050"/>
            <a:ext cx="228600" cy="228600"/>
          </a:xfrm>
          <a:prstGeom prst="rect">
            <a:avLst/>
          </a:prstGeom>
        </p:spPr>
      </p:pic>
      <p:sp>
        <p:nvSpPr>
          <p:cNvPr id="53" name="矩形 52"/>
          <p:cNvSpPr>
            <a:spLocks noGrp="1"/>
          </p:cNvSpPr>
          <p:nvPr/>
        </p:nvSpPr>
        <p:spPr>
          <a:xfrm>
            <a:off x="11277600" y="3429000"/>
            <a:ext cx="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/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666750" y="4476750"/>
            <a:ext cx="10287000" cy="11430"/>
          </a:xfrm>
          <a:prstGeom prst="rect">
            <a:avLst/>
          </a:prstGeom>
          <a:solidFill>
            <a:srgbClr val="D7D3C8"/>
          </a:solidFill>
          <a:ln w="0">
            <a:solidFill>
              <a:srgbClr val="D7D3C8"/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762000" y="4838700"/>
            <a:ext cx="1104900" cy="304800"/>
          </a:xfrm>
          <a:prstGeom prst="rect">
            <a:avLst/>
          </a:prstGeom>
          <a:solidFill>
            <a:srgbClr val="DDF5F7"/>
          </a:solidFill>
          <a:ln w="9525">
            <a:solidFill>
              <a:srgbClr val="BCECF1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876300" y="4895850"/>
            <a:ext cx="876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0D3B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0D3B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统一入口</a:t>
            </a:r>
            <a:endParaRPr sz="975" b="1">
              <a:solidFill>
                <a:srgbClr val="0D3B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762000" y="5257800"/>
            <a:ext cx="2952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2683"/>
          </a:bodyPr>
          <a:lstStyle/>
          <a:p>
            <a:pPr algn="l">
              <a:lnSpc>
                <a:spcPct val="116000"/>
              </a:lnSpc>
              <a:buNone/>
              <a:def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BT/SY 登录后在同一套前端选择系统类型，减少值守切换成本。</a:t>
            </a:r>
            <a:endParaRPr sz="112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4238625" y="4838700"/>
            <a:ext cx="1104900" cy="304800"/>
          </a:xfrm>
          <a:prstGeom prst="rect">
            <a:avLst/>
          </a:prstGeom>
          <a:solidFill>
            <a:srgbClr val="FFF0D6"/>
          </a:solidFill>
          <a:ln w="9525">
            <a:solidFill>
              <a:srgbClr val="F6CD8B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4352925" y="4895850"/>
            <a:ext cx="876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0D3B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0D3B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链路隔离</a:t>
            </a:r>
            <a:endParaRPr sz="975" b="1">
              <a:solidFill>
                <a:srgbClr val="0D3B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4238625" y="5257800"/>
            <a:ext cx="2952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Web 服务不直接控制现场串口或 UDP 通道，通过 Stream 与 Agent 交换。</a:t>
            </a:r>
            <a:endParaRPr sz="112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7715250" y="4838700"/>
            <a:ext cx="1104900" cy="304800"/>
          </a:xfrm>
          <a:prstGeom prst="rect">
            <a:avLst/>
          </a:prstGeom>
          <a:solidFill>
            <a:srgbClr val="DDF5F7"/>
          </a:solidFill>
          <a:ln w="9525">
            <a:solidFill>
              <a:srgbClr val="BCECF1"/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7829550" y="4895850"/>
            <a:ext cx="876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0D3B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0D3B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审计留痕</a:t>
            </a:r>
            <a:endParaRPr sz="975" b="1">
              <a:solidFill>
                <a:srgbClr val="0D3B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7715250" y="5257800"/>
            <a:ext cx="2952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远程命令、继电器动作、用户操作等进入记录，便于复盘。</a:t>
            </a:r>
            <a:endParaRPr sz="112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666750" y="6515100"/>
            <a:ext cx="819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FNTL-MS100 贝通云网管系统 | 产品介绍</a:t>
            </a:r>
            <a:endParaRPr sz="750" b="0">
              <a:solidFill>
                <a:srgbClr val="8A83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11277600" y="641985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975" b="0">
              <a:solidFill>
                <a:srgbClr val="8A83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F7F4EE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D3B4A"/>
          </a:solidFill>
          <a:ln w="0">
            <a:solidFill>
              <a:srgbClr val="0D3B4A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485775"/>
            <a:ext cx="76200" cy="76200"/>
          </a:xfrm>
          <a:prstGeom prst="rect">
            <a:avLst/>
          </a:prstGeom>
          <a:solidFill>
            <a:srgbClr val="11A6B3"/>
          </a:solidFill>
          <a:ln w="0">
            <a:solidFill>
              <a:srgbClr val="11A6B3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38200" y="4381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11A6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1A6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实时监控</a:t>
            </a:r>
            <a:endParaRPr sz="975" b="1">
              <a:solidFill>
                <a:srgbClr val="11A6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723900"/>
            <a:ext cx="4857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拓扑总览：先看全局再下钻</a:t>
            </a:r>
            <a:endParaRPr sz="285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1447800"/>
            <a:ext cx="489902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3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绿色、黄色、红色和灰色状态帮助快速定位设备与链路异常；左侧设备列表和详情页承接具体状态、邻站关系和单板信息。</a:t>
            </a:r>
            <a:endParaRPr sz="139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715000" y="781050"/>
            <a:ext cx="5381625" cy="33718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0D8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0252" y="857250"/>
            <a:ext cx="5151120" cy="3219450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5715000" y="4229100"/>
            <a:ext cx="53816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设备监控总览：拓扑、设备列表和全局指标</a:t>
            </a:r>
            <a:endParaRPr sz="90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62000" y="2533650"/>
            <a:ext cx="4191000" cy="26193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0D8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20" y="2609850"/>
            <a:ext cx="3947160" cy="2466975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762000" y="5229225"/>
            <a:ext cx="419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设备详情：邻站、网管板、方向状态、单板状态</a:t>
            </a:r>
            <a:endParaRPr sz="90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524500" y="4800600"/>
            <a:ext cx="17145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3C8"/>
            </a:solidFill>
            <a:prstDash val="solid"/>
          </a:ln>
        </p:spPr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76900" y="4962525"/>
            <a:ext cx="200025" cy="200025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5972175" y="4943475"/>
            <a:ext cx="1257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4588"/>
          </a:bodyPr>
          <a:lstStyle/>
          <a:p>
            <a:pPr algn="l">
              <a:defRPr sz="116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拓扑颜色先提示状态</a:t>
            </a:r>
            <a:endParaRPr sz="1165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676900" y="525780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6918"/>
          </a:bodyPr>
          <a:lstStyle/>
          <a:p>
            <a:pPr algn="l">
              <a:lnSpc>
                <a:spcPct val="110000"/>
              </a:lnSpc>
              <a:buNone/>
              <a:defRPr sz="94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先看颜色变化，再打开设备详情确认含义。</a:t>
            </a:r>
            <a:endParaRPr sz="94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477125" y="4800600"/>
            <a:ext cx="1714500" cy="914400"/>
          </a:xfrm>
          <a:prstGeom prst="rect">
            <a:avLst/>
          </a:prstGeom>
          <a:solidFill>
            <a:srgbClr val="FFF0D6"/>
          </a:solidFill>
          <a:ln w="9525">
            <a:solidFill>
              <a:srgbClr val="D7D3C8"/>
            </a:solidFill>
            <a:prstDash val="solid"/>
          </a:ln>
        </p:spPr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9525" y="4962525"/>
            <a:ext cx="200025" cy="200025"/>
          </a:xfrm>
          <a:prstGeom prst="rect">
            <a:avLst/>
          </a:prstGeom>
        </p:spPr>
      </p:pic>
      <p:sp>
        <p:nvSpPr>
          <p:cNvPr id="20" name="矩形 19"/>
          <p:cNvSpPr>
            <a:spLocks noGrp="1"/>
          </p:cNvSpPr>
          <p:nvPr/>
        </p:nvSpPr>
        <p:spPr>
          <a:xfrm>
            <a:off x="7924800" y="4943475"/>
            <a:ext cx="1257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6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单台设备可下钻</a:t>
            </a:r>
            <a:endParaRPr sz="1165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629525" y="525780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6918"/>
          </a:bodyPr>
          <a:lstStyle/>
          <a:p>
            <a:pPr algn="l">
              <a:lnSpc>
                <a:spcPct val="110000"/>
              </a:lnSpc>
              <a:buNone/>
              <a:defRPr sz="94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设备详情显示邻站关系、备注和方向状态。</a:t>
            </a:r>
            <a:endParaRPr sz="94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429750" y="4800600"/>
            <a:ext cx="17145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3C8"/>
            </a:solidFill>
            <a:prstDash val="solid"/>
          </a:ln>
        </p:spPr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82150" y="4962525"/>
            <a:ext cx="200025" cy="200025"/>
          </a:xfrm>
          <a:prstGeom prst="rect">
            <a:avLst/>
          </a:prstGeom>
        </p:spPr>
      </p:pic>
      <p:sp>
        <p:nvSpPr>
          <p:cNvPr id="24" name="矩形 23"/>
          <p:cNvSpPr>
            <a:spLocks noGrp="1"/>
          </p:cNvSpPr>
          <p:nvPr/>
        </p:nvSpPr>
        <p:spPr>
          <a:xfrm>
            <a:off x="9877425" y="4943475"/>
            <a:ext cx="1257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4588"/>
          </a:bodyPr>
          <a:lstStyle/>
          <a:p>
            <a:pPr algn="l">
              <a:defRPr sz="116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声音开关适合值班席</a:t>
            </a:r>
            <a:endParaRPr sz="1165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582150" y="525780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6918"/>
          </a:bodyPr>
          <a:lstStyle/>
          <a:p>
            <a:pPr algn="l">
              <a:lnSpc>
                <a:spcPct val="110000"/>
              </a:lnSpc>
              <a:buNone/>
              <a:defRPr sz="94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可试音、暂停当前提示音，但不替代告警处理。</a:t>
            </a:r>
            <a:endParaRPr sz="94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66750" y="6515100"/>
            <a:ext cx="819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FNTL-MS100 贝通云网管系统 | 产品介绍</a:t>
            </a:r>
            <a:endParaRPr sz="750" b="0">
              <a:solidFill>
                <a:srgbClr val="8A83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1277600" y="641985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975" b="0">
              <a:solidFill>
                <a:srgbClr val="8A83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F7F4EE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D3B4A"/>
          </a:solidFill>
          <a:ln w="0">
            <a:solidFill>
              <a:srgbClr val="0D3B4A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485775"/>
            <a:ext cx="76200" cy="76200"/>
          </a:xfrm>
          <a:prstGeom prst="rect">
            <a:avLst/>
          </a:prstGeom>
          <a:solidFill>
            <a:srgbClr val="11A6B3"/>
          </a:solidFill>
          <a:ln w="0">
            <a:solidFill>
              <a:srgbClr val="11A6B3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38200" y="4381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11A6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1A6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告警闭环</a:t>
            </a:r>
            <a:endParaRPr sz="975" b="1">
              <a:solidFill>
                <a:srgbClr val="11A6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723900"/>
            <a:ext cx="5334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77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7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告警提醒到确认，形成处理闭环</a:t>
            </a:r>
            <a:endParaRPr sz="2775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1409700"/>
            <a:ext cx="5334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当前告警确认表示人员已知晓，系统会把声音提醒、颜色提示、告警明细、确认记录和后续复盘连接起来。</a:t>
            </a:r>
            <a:endParaRPr sz="135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72250" y="742950"/>
            <a:ext cx="476250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0D8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7980" y="819150"/>
            <a:ext cx="4511040" cy="2819400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6572250" y="3790950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当前告警列表：按系统、设备、告警含义筛选并确认</a:t>
            </a:r>
            <a:endParaRPr sz="90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62000" y="2476500"/>
            <a:ext cx="2476500" cy="971550"/>
          </a:xfrm>
          <a:prstGeom prst="rect">
            <a:avLst/>
          </a:prstGeom>
          <a:solidFill>
            <a:srgbClr val="FCE7E4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914400" y="2647950"/>
            <a:ext cx="285750" cy="285750"/>
          </a:xfrm>
          <a:prstGeom prst="ellipse">
            <a:avLst/>
          </a:prstGeom>
          <a:solidFill>
            <a:srgbClr val="D9493F"/>
          </a:solidFill>
          <a:ln w="0">
            <a:solidFill>
              <a:srgbClr val="D9493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14400" y="2695575"/>
            <a:ext cx="28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endParaRPr sz="9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5400" y="2667000"/>
            <a:ext cx="209550" cy="209550"/>
          </a:xfrm>
          <a:prstGeom prst="rect">
            <a:avLst/>
          </a:prstGeom>
        </p:spPr>
      </p:pic>
      <p:sp>
        <p:nvSpPr>
          <p:cNvPr id="15" name="矩形 14"/>
          <p:cNvSpPr>
            <a:spLocks noGrp="1"/>
          </p:cNvSpPr>
          <p:nvPr/>
        </p:nvSpPr>
        <p:spPr>
          <a:xfrm>
            <a:off x="1581150" y="2647950"/>
            <a:ext cx="1485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出现提醒</a:t>
            </a:r>
            <a:endParaRPr sz="135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295400" y="2952750"/>
            <a:ext cx="17716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页面顶部、拓扑颜色和入口数量同时提示。</a:t>
            </a:r>
            <a:endParaRPr sz="105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429000" y="2476500"/>
            <a:ext cx="2476500" cy="971550"/>
          </a:xfrm>
          <a:prstGeom prst="rect">
            <a:avLst/>
          </a:prstGeom>
          <a:solidFill>
            <a:srgbClr val="FFF0D6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3581400" y="2647950"/>
            <a:ext cx="285750" cy="285750"/>
          </a:xfrm>
          <a:prstGeom prst="ellipse">
            <a:avLst/>
          </a:prstGeom>
          <a:solidFill>
            <a:srgbClr val="F2A33A"/>
          </a:solidFill>
          <a:ln w="0">
            <a:solidFill>
              <a:srgbClr val="F2A33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3581400" y="2695575"/>
            <a:ext cx="28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endParaRPr sz="9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62400" y="2667000"/>
            <a:ext cx="209550" cy="209550"/>
          </a:xfrm>
          <a:prstGeom prst="rect">
            <a:avLst/>
          </a:prstGeom>
        </p:spPr>
      </p:pic>
      <p:sp>
        <p:nvSpPr>
          <p:cNvPr id="21" name="矩形 20"/>
          <p:cNvSpPr>
            <a:spLocks noGrp="1"/>
          </p:cNvSpPr>
          <p:nvPr/>
        </p:nvSpPr>
        <p:spPr>
          <a:xfrm>
            <a:off x="4248150" y="2647950"/>
            <a:ext cx="1485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人员确认</a:t>
            </a:r>
            <a:endParaRPr sz="135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962400" y="2952750"/>
            <a:ext cx="17716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值守人员核对设备、告警码和起始时间。</a:t>
            </a:r>
            <a:endParaRPr sz="105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62000" y="3771900"/>
            <a:ext cx="2476500" cy="971550"/>
          </a:xfrm>
          <a:prstGeom prst="rect">
            <a:avLst/>
          </a:prstGeom>
          <a:solidFill>
            <a:srgbClr val="DDF5F7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24" name="椭圆 23"/>
          <p:cNvSpPr>
            <a:spLocks noGrp="1"/>
          </p:cNvSpPr>
          <p:nvPr/>
        </p:nvSpPr>
        <p:spPr>
          <a:xfrm>
            <a:off x="914400" y="3943350"/>
            <a:ext cx="285750" cy="285750"/>
          </a:xfrm>
          <a:prstGeom prst="ellipse">
            <a:avLst/>
          </a:prstGeom>
          <a:solidFill>
            <a:srgbClr val="11A6B3"/>
          </a:solidFill>
          <a:ln w="0">
            <a:solidFill>
              <a:srgbClr val="11A6B3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14400" y="3990975"/>
            <a:ext cx="28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</a:t>
            </a:r>
            <a:endParaRPr sz="9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95400" y="3962400"/>
            <a:ext cx="209550" cy="209550"/>
          </a:xfrm>
          <a:prstGeom prst="rect">
            <a:avLst/>
          </a:prstGeom>
        </p:spPr>
      </p:pic>
      <p:sp>
        <p:nvSpPr>
          <p:cNvPr id="27" name="矩形 26"/>
          <p:cNvSpPr>
            <a:spLocks noGrp="1"/>
          </p:cNvSpPr>
          <p:nvPr/>
        </p:nvSpPr>
        <p:spPr>
          <a:xfrm>
            <a:off x="1581150" y="3943350"/>
            <a:ext cx="1485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现场处置</a:t>
            </a:r>
            <a:endParaRPr sz="135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295400" y="4248150"/>
            <a:ext cx="17716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按现场流程处理，记录设备名称和结果。</a:t>
            </a:r>
            <a:endParaRPr sz="105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429000" y="3771900"/>
            <a:ext cx="2476500" cy="971550"/>
          </a:xfrm>
          <a:prstGeom prst="rect">
            <a:avLst/>
          </a:prstGeom>
          <a:solidFill>
            <a:srgbClr val="E2F5EA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30" name="椭圆 29"/>
          <p:cNvSpPr>
            <a:spLocks noGrp="1"/>
          </p:cNvSpPr>
          <p:nvPr/>
        </p:nvSpPr>
        <p:spPr>
          <a:xfrm>
            <a:off x="3581400" y="3943350"/>
            <a:ext cx="285750" cy="285750"/>
          </a:xfrm>
          <a:prstGeom prst="ellipse">
            <a:avLst/>
          </a:prstGeom>
          <a:solidFill>
            <a:srgbClr val="2F9E5E"/>
          </a:solidFill>
          <a:ln w="0">
            <a:solidFill>
              <a:srgbClr val="2F9E5E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3581400" y="3990975"/>
            <a:ext cx="28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</a:t>
            </a:r>
            <a:endParaRPr sz="9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62400" y="3962400"/>
            <a:ext cx="209550" cy="209550"/>
          </a:xfrm>
          <a:prstGeom prst="rect">
            <a:avLst/>
          </a:prstGeom>
        </p:spPr>
      </p:pic>
      <p:sp>
        <p:nvSpPr>
          <p:cNvPr id="33" name="矩形 32"/>
          <p:cNvSpPr>
            <a:spLocks noGrp="1"/>
          </p:cNvSpPr>
          <p:nvPr/>
        </p:nvSpPr>
        <p:spPr>
          <a:xfrm>
            <a:off x="4248150" y="3943350"/>
            <a:ext cx="1485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记录复盘</a:t>
            </a:r>
            <a:endParaRPr sz="135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962400" y="4248150"/>
            <a:ext cx="17716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新的告警或状态变化会再次提醒并留痕。</a:t>
            </a:r>
            <a:endParaRPr sz="105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3238500" y="2943225"/>
            <a:ext cx="190500" cy="28575"/>
          </a:xfrm>
          <a:prstGeom prst="rect">
            <a:avLst/>
          </a:prstGeom>
          <a:solidFill>
            <a:srgbClr val="D7D3C8"/>
          </a:solidFill>
          <a:ln w="0">
            <a:solidFill>
              <a:srgbClr val="D7D3C8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1952625" y="3524250"/>
            <a:ext cx="28575" cy="247650"/>
          </a:xfrm>
          <a:prstGeom prst="rect">
            <a:avLst/>
          </a:prstGeom>
          <a:solidFill>
            <a:srgbClr val="D7D3C8"/>
          </a:solidFill>
          <a:ln w="0">
            <a:solidFill>
              <a:srgbClr val="D7D3C8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3238500" y="4238625"/>
            <a:ext cx="190500" cy="28575"/>
          </a:xfrm>
          <a:prstGeom prst="rect">
            <a:avLst/>
          </a:prstGeom>
          <a:solidFill>
            <a:srgbClr val="D7D3C8"/>
          </a:solidFill>
          <a:ln w="0">
            <a:solidFill>
              <a:srgbClr val="D7D3C8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6762750" y="4286250"/>
            <a:ext cx="41910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0D8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6991350" y="4514850"/>
            <a:ext cx="85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0D3B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0D3B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闭环价值</a:t>
            </a:r>
            <a:endParaRPr sz="1350" b="1">
              <a:solidFill>
                <a:srgbClr val="0D3B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7943850" y="4457700"/>
            <a:ext cx="26289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77309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系统不只是弹出告警，还把告警声音、设备颜色、人员确认、历史记录和导出复盘串成闭环。</a:t>
            </a:r>
            <a:endParaRPr sz="1275" b="0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66750" y="6515100"/>
            <a:ext cx="819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FNTL-MS100 贝通云网管系统 | 产品介绍</a:t>
            </a:r>
            <a:endParaRPr sz="750" b="0">
              <a:solidFill>
                <a:srgbClr val="8A83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11277600" y="641985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</a:t>
            </a:r>
            <a:endParaRPr sz="975" b="0">
              <a:solidFill>
                <a:srgbClr val="8A83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F7F4EE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D3B4A"/>
          </a:solidFill>
          <a:ln w="0">
            <a:solidFill>
              <a:srgbClr val="0D3B4A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485775"/>
            <a:ext cx="76200" cy="76200"/>
          </a:xfrm>
          <a:prstGeom prst="rect">
            <a:avLst/>
          </a:prstGeom>
          <a:solidFill>
            <a:srgbClr val="11A6B3"/>
          </a:solidFill>
          <a:ln w="0">
            <a:solidFill>
              <a:srgbClr val="11A6B3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38200" y="4381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11A6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1A6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记录追溯</a:t>
            </a:r>
            <a:endParaRPr sz="975" b="1">
              <a:solidFill>
                <a:srgbClr val="11A6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723900"/>
            <a:ext cx="72390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6369"/>
          </a:bodyPr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0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历史记录把复盘、归档和责任追溯放在同一入口。</a:t>
            </a:r>
            <a:endParaRPr sz="300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1466850"/>
            <a:ext cx="77152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历史告警、继电器动作和用户操作记录可按时间、线路、设备、告警码和确认状态筛选；导出文件用于交接班、事件复盘和现场归档。</a:t>
            </a:r>
            <a:endParaRPr sz="135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33425" y="2362200"/>
            <a:ext cx="5857875" cy="34480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0D8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842" y="2438400"/>
            <a:ext cx="5273040" cy="3295650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733425" y="5886450"/>
            <a:ext cx="585787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记录查询：多类记录集中筛选、分页和导出</a:t>
            </a:r>
            <a:endParaRPr sz="90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239000" y="2381250"/>
            <a:ext cx="3381375" cy="647700"/>
          </a:xfrm>
          <a:prstGeom prst="rect">
            <a:avLst/>
          </a:prstGeom>
          <a:solidFill>
            <a:srgbClr val="FCE7E4"/>
          </a:solidFill>
          <a:ln w="9525">
            <a:solidFill>
              <a:srgbClr val="D4D8DD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48550" y="2543175"/>
            <a:ext cx="209550" cy="209550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7753350" y="2524125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历史告警</a:t>
            </a:r>
            <a:endParaRPr sz="1275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763000" y="2533650"/>
            <a:ext cx="16002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看开始/结束时间、持续时长、确认状态。</a:t>
            </a:r>
            <a:endParaRPr sz="101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239000" y="3219450"/>
            <a:ext cx="3381375" cy="647700"/>
          </a:xfrm>
          <a:prstGeom prst="rect">
            <a:avLst/>
          </a:prstGeom>
          <a:solidFill>
            <a:srgbClr val="FFF0D6"/>
          </a:solidFill>
          <a:ln w="9525">
            <a:solidFill>
              <a:srgbClr val="D4D8DD"/>
            </a:solidFill>
            <a:prstDash val="solid"/>
          </a:ln>
        </p:spPr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8550" y="3381375"/>
            <a:ext cx="209550" cy="209550"/>
          </a:xfrm>
          <a:prstGeom prst="rect">
            <a:avLst/>
          </a:prstGeom>
        </p:spPr>
      </p:pic>
      <p:sp>
        <p:nvSpPr>
          <p:cNvPr id="17" name="矩形 16"/>
          <p:cNvSpPr>
            <a:spLocks noGrp="1"/>
          </p:cNvSpPr>
          <p:nvPr/>
        </p:nvSpPr>
        <p:spPr>
          <a:xfrm>
            <a:off x="7753350" y="3362325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继电器动作</a:t>
            </a:r>
            <a:endParaRPr sz="1275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763000" y="3371850"/>
            <a:ext cx="16002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复核动作时间与现场处置是否一致。</a:t>
            </a:r>
            <a:endParaRPr sz="101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239000" y="4057650"/>
            <a:ext cx="3381375" cy="647700"/>
          </a:xfrm>
          <a:prstGeom prst="rect">
            <a:avLst/>
          </a:prstGeom>
          <a:solidFill>
            <a:srgbClr val="DDF5F7"/>
          </a:solidFill>
          <a:ln w="9525">
            <a:solidFill>
              <a:srgbClr val="D4D8DD"/>
            </a:solidFill>
            <a:prstDash val="solid"/>
          </a:ln>
        </p:spPr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48550" y="4219575"/>
            <a:ext cx="209550" cy="209550"/>
          </a:xfrm>
          <a:prstGeom prst="rect">
            <a:avLst/>
          </a:prstGeom>
        </p:spPr>
      </p:pic>
      <p:sp>
        <p:nvSpPr>
          <p:cNvPr id="21" name="矩形 20"/>
          <p:cNvSpPr>
            <a:spLocks noGrp="1"/>
          </p:cNvSpPr>
          <p:nvPr/>
        </p:nvSpPr>
        <p:spPr>
          <a:xfrm>
            <a:off x="7753350" y="4200525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用户操作</a:t>
            </a:r>
            <a:endParaRPr sz="1275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763000" y="4210050"/>
            <a:ext cx="16002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保留账号、时间和操作痕迹。</a:t>
            </a:r>
            <a:endParaRPr sz="101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239000" y="4895850"/>
            <a:ext cx="3381375" cy="647700"/>
          </a:xfrm>
          <a:prstGeom prst="rect">
            <a:avLst/>
          </a:prstGeom>
          <a:solidFill>
            <a:srgbClr val="E2F5EA"/>
          </a:solidFill>
          <a:ln w="9525">
            <a:solidFill>
              <a:srgbClr val="D4D8DD"/>
            </a:solidFill>
            <a:prstDash val="solid"/>
          </a:ln>
        </p:spPr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48550" y="5057775"/>
            <a:ext cx="209550" cy="209550"/>
          </a:xfrm>
          <a:prstGeom prst="rect">
            <a:avLst/>
          </a:prstGeom>
        </p:spPr>
      </p:pic>
      <p:sp>
        <p:nvSpPr>
          <p:cNvPr id="25" name="矩形 24"/>
          <p:cNvSpPr>
            <a:spLocks noGrp="1"/>
          </p:cNvSpPr>
          <p:nvPr/>
        </p:nvSpPr>
        <p:spPr>
          <a:xfrm>
            <a:off x="7753350" y="5038725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导出归档</a:t>
            </a:r>
            <a:endParaRPr sz="1275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763000" y="5048250"/>
            <a:ext cx="16002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xlsx 适合统计，csv 适合大数据量。</a:t>
            </a:r>
            <a:endParaRPr sz="101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239000" y="5962650"/>
            <a:ext cx="338137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96"/>
          </a:bodyPr>
          <a:lstStyle/>
          <a:p>
            <a:pPr algn="l">
              <a:lnSpc>
                <a:spcPct val="116000"/>
              </a:lnSpc>
              <a:buNone/>
              <a:defRPr sz="112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记录价值：历史告警、继电器动作和用户操作可统一查询、交接、归档和复盘。</a:t>
            </a:r>
            <a:endParaRPr sz="1125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66750" y="6515100"/>
            <a:ext cx="819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FNTL-MS100 贝通云网管系统 | 产品介绍</a:t>
            </a:r>
            <a:endParaRPr sz="750" b="0">
              <a:solidFill>
                <a:srgbClr val="8A83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1277600" y="641985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06</a:t>
            </a:r>
            <a:endParaRPr sz="975" b="0">
              <a:solidFill>
                <a:srgbClr val="8A83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F7F4EE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D3B4A"/>
          </a:solidFill>
          <a:ln w="0">
            <a:solidFill>
              <a:srgbClr val="0D3B4A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485775"/>
            <a:ext cx="76200" cy="76200"/>
          </a:xfrm>
          <a:prstGeom prst="rect">
            <a:avLst/>
          </a:prstGeom>
          <a:solidFill>
            <a:srgbClr val="11A6B3"/>
          </a:solidFill>
          <a:ln w="0">
            <a:solidFill>
              <a:srgbClr val="11A6B3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38200" y="4381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11A6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1A6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安全控制</a:t>
            </a:r>
            <a:endParaRPr sz="975" b="1">
              <a:solidFill>
                <a:srgbClr val="11A6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723900"/>
            <a:ext cx="72390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07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07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远程控制纳入授权、验证和审计边界。</a:t>
            </a:r>
            <a:endParaRPr sz="3075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1447800"/>
            <a:ext cx="895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3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系统支持远程命令入口；控制动作需在账号权限、二次验证、目标确认和审计记录的约束下执行。</a:t>
            </a:r>
            <a:endParaRPr sz="139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409700" y="2266950"/>
            <a:ext cx="3333750" cy="4038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0D8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1575" y="2324100"/>
            <a:ext cx="3090000" cy="3924300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1409700" y="6381750"/>
            <a:ext cx="3333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远程控制命令窗口：验证通过后选择方向和模式</a:t>
            </a:r>
            <a:endParaRPr sz="90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0" y="2552700"/>
            <a:ext cx="2143125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6267450" y="2762250"/>
            <a:ext cx="285750" cy="285750"/>
          </a:xfrm>
          <a:prstGeom prst="ellipse">
            <a:avLst/>
          </a:prstGeom>
          <a:solidFill>
            <a:srgbClr val="11A6B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267450" y="2809875"/>
            <a:ext cx="28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endParaRPr sz="9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686550" y="2743200"/>
            <a:ext cx="1257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账号权限</a:t>
            </a:r>
            <a:endParaRPr sz="135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686550" y="3028950"/>
            <a:ext cx="12858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7298"/>
          </a:bodyPr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普通操作员不应接触高风险入口</a:t>
            </a:r>
            <a:endParaRPr sz="97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572500" y="2552700"/>
            <a:ext cx="2143125" cy="990600"/>
          </a:xfrm>
          <a:prstGeom prst="rect">
            <a:avLst/>
          </a:prstGeom>
          <a:solidFill>
            <a:srgbClr val="FFF0D6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8743950" y="2762250"/>
            <a:ext cx="285750" cy="285750"/>
          </a:xfrm>
          <a:prstGeom prst="ellipse">
            <a:avLst/>
          </a:prstGeom>
          <a:solidFill>
            <a:srgbClr val="F2A3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743950" y="2809875"/>
            <a:ext cx="28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endParaRPr sz="9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163050" y="2743200"/>
            <a:ext cx="1257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二次验证</a:t>
            </a:r>
            <a:endParaRPr sz="135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63050" y="3028950"/>
            <a:ext cx="12858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7298"/>
          </a:bodyPr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验证通过前不显示或不能执行命令</a:t>
            </a:r>
            <a:endParaRPr sz="97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096000" y="3810000"/>
            <a:ext cx="2143125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22" name="椭圆 21"/>
          <p:cNvSpPr>
            <a:spLocks noGrp="1"/>
          </p:cNvSpPr>
          <p:nvPr/>
        </p:nvSpPr>
        <p:spPr>
          <a:xfrm>
            <a:off x="6267450" y="4019550"/>
            <a:ext cx="285750" cy="285750"/>
          </a:xfrm>
          <a:prstGeom prst="ellipse">
            <a:avLst/>
          </a:prstGeom>
          <a:solidFill>
            <a:srgbClr val="11A6B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267450" y="4067175"/>
            <a:ext cx="28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</a:t>
            </a:r>
            <a:endParaRPr sz="9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686550" y="4000500"/>
            <a:ext cx="1257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目标复核</a:t>
            </a:r>
            <a:endParaRPr sz="135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686550" y="4286250"/>
            <a:ext cx="12858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7298"/>
          </a:bodyPr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确认本站/邻站、方向和模式后发送</a:t>
            </a:r>
            <a:endParaRPr sz="97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572500" y="3810000"/>
            <a:ext cx="2143125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27" name="椭圆 26"/>
          <p:cNvSpPr>
            <a:spLocks noGrp="1"/>
          </p:cNvSpPr>
          <p:nvPr/>
        </p:nvSpPr>
        <p:spPr>
          <a:xfrm>
            <a:off x="8743950" y="4019550"/>
            <a:ext cx="285750" cy="285750"/>
          </a:xfrm>
          <a:prstGeom prst="ellipse">
            <a:avLst/>
          </a:prstGeom>
          <a:solidFill>
            <a:srgbClr val="11A6B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743950" y="4067175"/>
            <a:ext cx="28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</a:t>
            </a:r>
            <a:endParaRPr sz="9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163050" y="4000500"/>
            <a:ext cx="1257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审计记录</a:t>
            </a:r>
            <a:endParaRPr sz="135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163050" y="4286250"/>
            <a:ext cx="12858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7298"/>
          </a:bodyPr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查看页面提示、用户操作和状态变化</a:t>
            </a:r>
            <a:endParaRPr sz="97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096000" y="5219700"/>
            <a:ext cx="4619625" cy="400050"/>
          </a:xfrm>
          <a:prstGeom prst="rect">
            <a:avLst/>
          </a:prstGeom>
          <a:solidFill>
            <a:srgbClr val="0D3B4A"/>
          </a:solidFill>
          <a:ln w="9525">
            <a:solidFill>
              <a:srgbClr val="0D3B4A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210300" y="5334000"/>
            <a:ext cx="43910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4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控制原则：能远程处置，也要通过权限、验证和记录留痕管住控制风险。</a:t>
            </a:r>
            <a:endParaRPr sz="94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66750" y="6515100"/>
            <a:ext cx="819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FNTL-MS100 贝通云网管系统 | 产品介绍</a:t>
            </a:r>
            <a:endParaRPr sz="750" b="0">
              <a:solidFill>
                <a:srgbClr val="8A83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1277600" y="641985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07</a:t>
            </a:r>
            <a:endParaRPr sz="975" b="0">
              <a:solidFill>
                <a:srgbClr val="8A83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F7F4EE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D3B4A"/>
          </a:solidFill>
          <a:ln w="0">
            <a:solidFill>
              <a:srgbClr val="0D3B4A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485775"/>
            <a:ext cx="76200" cy="76200"/>
          </a:xfrm>
          <a:prstGeom prst="rect">
            <a:avLst/>
          </a:prstGeom>
          <a:solidFill>
            <a:srgbClr val="11A6B3"/>
          </a:solidFill>
          <a:ln w="0">
            <a:solidFill>
              <a:srgbClr val="11A6B3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38200" y="4381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11A6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1A6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客户侧运维</a:t>
            </a:r>
            <a:endParaRPr sz="975" b="1">
              <a:solidFill>
                <a:srgbClr val="11A6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723900"/>
            <a:ext cx="8096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78706"/>
          </a:bodyPr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0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管理员可维护参数、资料和后台台账，提升客户侧维护能力。</a:t>
            </a:r>
            <a:endParaRPr sz="300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1466850"/>
            <a:ext cx="9906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3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客户管理员可按权限维护运行参数、FAQ/文件资料和后台基础数据；高风险动作保留复核要求和操作记录。</a:t>
            </a:r>
            <a:endParaRPr sz="139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2476500"/>
            <a:ext cx="3143250" cy="1962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0D8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25" y="2552700"/>
            <a:ext cx="2895600" cy="1809750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685800" y="4686300"/>
            <a:ext cx="3143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76300" y="4905375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l">
              <a:defRPr sz="16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系统设置</a:t>
            </a:r>
            <a:endParaRPr sz="165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76300" y="5219700"/>
            <a:ext cx="2724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5089"/>
          </a:bodyPr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维护告警、声音、导出、清理和页面范围等运行参数。</a:t>
            </a:r>
            <a:endParaRPr sz="105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248150" y="2476500"/>
            <a:ext cx="3143250" cy="1962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0D8"/>
            </a:solidFill>
            <a:prstDash val="solid"/>
          </a:ln>
        </p:spPr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1975" y="2552700"/>
            <a:ext cx="2895600" cy="1809750"/>
          </a:xfrm>
          <a:prstGeom prst="rect">
            <a:avLst/>
          </a:prstGeom>
        </p:spPr>
      </p:pic>
      <p:sp>
        <p:nvSpPr>
          <p:cNvPr id="15" name="矩形 14"/>
          <p:cNvSpPr>
            <a:spLocks noGrp="1"/>
          </p:cNvSpPr>
          <p:nvPr/>
        </p:nvSpPr>
        <p:spPr>
          <a:xfrm>
            <a:off x="4248150" y="4686300"/>
            <a:ext cx="3143250" cy="952500"/>
          </a:xfrm>
          <a:prstGeom prst="rect">
            <a:avLst/>
          </a:prstGeom>
          <a:solidFill>
            <a:srgbClr val="FFF0D6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438650" y="4905375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l">
              <a:defRPr sz="16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帮助与资料管理</a:t>
            </a:r>
            <a:endParaRPr sz="165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438650" y="5219700"/>
            <a:ext cx="2724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发布 FAQ、操作说明、模板文件和维护资料。</a:t>
            </a:r>
            <a:endParaRPr sz="105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810500" y="2476500"/>
            <a:ext cx="3143250" cy="1962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0D8"/>
            </a:solidFill>
            <a:prstDash val="solid"/>
          </a:ln>
        </p:spPr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4325" y="2552700"/>
            <a:ext cx="2895600" cy="1809750"/>
          </a:xfrm>
          <a:prstGeom prst="rect">
            <a:avLst/>
          </a:prstGeom>
        </p:spPr>
      </p:pic>
      <p:sp>
        <p:nvSpPr>
          <p:cNvPr id="20" name="矩形 19"/>
          <p:cNvSpPr>
            <a:spLocks noGrp="1"/>
          </p:cNvSpPr>
          <p:nvPr/>
        </p:nvSpPr>
        <p:spPr>
          <a:xfrm>
            <a:off x="7810500" y="4686300"/>
            <a:ext cx="3143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001000" y="4905375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l">
              <a:defRPr sz="16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后台台账维护</a:t>
            </a:r>
            <a:endParaRPr sz="165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001000" y="5219700"/>
            <a:ext cx="2724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维护设备、线路、用户和记录筛选导出入口。</a:t>
            </a:r>
            <a:endParaRPr sz="105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23900" y="5962650"/>
            <a:ext cx="9906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运维价值：长期值守、资料交接和参数维护可沉淀在系统中，减少依赖个人电脑或纸面记录。</a:t>
            </a:r>
            <a:endParaRPr sz="120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66750" y="6515100"/>
            <a:ext cx="819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FNTL-MS100 贝通云网管系统 | 产品介绍</a:t>
            </a:r>
            <a:endParaRPr sz="750" b="0">
              <a:solidFill>
                <a:srgbClr val="8A83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277600" y="641985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08</a:t>
            </a:r>
            <a:endParaRPr sz="975" b="0">
              <a:solidFill>
                <a:srgbClr val="8A83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F7F4EE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D3B4A"/>
          </a:solidFill>
          <a:ln w="0">
            <a:solidFill>
              <a:srgbClr val="0D3B4A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485775"/>
            <a:ext cx="76200" cy="76200"/>
          </a:xfrm>
          <a:prstGeom prst="rect">
            <a:avLst/>
          </a:prstGeom>
          <a:solidFill>
            <a:srgbClr val="11A6B3"/>
          </a:solidFill>
          <a:ln w="0">
            <a:solidFill>
              <a:srgbClr val="11A6B3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38200" y="4381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11A6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1A6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部署架构</a:t>
            </a:r>
            <a:endParaRPr sz="975" b="1">
              <a:solidFill>
                <a:srgbClr val="11A6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723900"/>
            <a:ext cx="7715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2794"/>
          </a:bodyPr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0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服务端与边缘 Agent 解耦，适配现场网络和设备协议。</a:t>
            </a:r>
            <a:endParaRPr sz="300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1466850"/>
            <a:ext cx="8763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生产环境通过 Docker Compose 编排前端、BT/SY 后端、PostgreSQL、Redis、Celery、Nginx 等组件；Windows 侧 Agent 负责现场 UDP 或串口链路。</a:t>
            </a:r>
            <a:endParaRPr sz="135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2457450"/>
            <a:ext cx="466725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1D8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47750" y="27241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0D3B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0D3B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中心服务端</a:t>
            </a:r>
            <a:endParaRPr sz="1800" b="1">
              <a:solidFill>
                <a:srgbClr val="0D3B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47750" y="3219450"/>
            <a:ext cx="1809750" cy="438150"/>
          </a:xfrm>
          <a:prstGeom prst="rect">
            <a:avLst/>
          </a:prstGeom>
          <a:solidFill>
            <a:srgbClr val="FBFAF6"/>
          </a:solidFill>
          <a:ln w="9525">
            <a:solidFill>
              <a:srgbClr val="D7D3C8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2050" y="3333750"/>
            <a:ext cx="171450" cy="171450"/>
          </a:xfrm>
          <a:prstGeom prst="rect">
            <a:avLst/>
          </a:prstGeom>
        </p:spPr>
      </p:pic>
      <p:sp>
        <p:nvSpPr>
          <p:cNvPr id="12" name="矩形 11"/>
          <p:cNvSpPr>
            <a:spLocks noGrp="1"/>
          </p:cNvSpPr>
          <p:nvPr/>
        </p:nvSpPr>
        <p:spPr>
          <a:xfrm>
            <a:off x="1428750" y="331470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Vue 前端</a:t>
            </a:r>
            <a:endParaRPr sz="105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90750" y="3352800"/>
            <a:ext cx="533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38173</a:t>
            </a:r>
            <a:endParaRPr sz="79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143250" y="3219450"/>
            <a:ext cx="1809750" cy="438150"/>
          </a:xfrm>
          <a:prstGeom prst="rect">
            <a:avLst/>
          </a:prstGeom>
          <a:solidFill>
            <a:srgbClr val="FBFAF6"/>
          </a:solidFill>
          <a:ln w="9525">
            <a:solidFill>
              <a:srgbClr val="D7D3C8"/>
            </a:solidFill>
            <a:prstDash val="solid"/>
          </a:ln>
        </p:spPr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7550" y="3333750"/>
            <a:ext cx="171450" cy="171450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3524250" y="331470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BT 后端 / API</a:t>
            </a:r>
            <a:endParaRPr sz="105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286250" y="3352800"/>
            <a:ext cx="533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8000</a:t>
            </a:r>
            <a:endParaRPr sz="79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47750" y="3810000"/>
            <a:ext cx="1809750" cy="438150"/>
          </a:xfrm>
          <a:prstGeom prst="rect">
            <a:avLst/>
          </a:prstGeom>
          <a:solidFill>
            <a:srgbClr val="FBFAF6"/>
          </a:solidFill>
          <a:ln w="9525">
            <a:solidFill>
              <a:srgbClr val="D7D3C8"/>
            </a:solidFill>
            <a:prstDash val="solid"/>
          </a:ln>
        </p:spPr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2050" y="3924300"/>
            <a:ext cx="171450" cy="171450"/>
          </a:xfrm>
          <a:prstGeom prst="rect">
            <a:avLst/>
          </a:prstGeom>
        </p:spPr>
      </p:pic>
      <p:sp>
        <p:nvSpPr>
          <p:cNvPr id="20" name="矩形 19"/>
          <p:cNvSpPr>
            <a:spLocks noGrp="1"/>
          </p:cNvSpPr>
          <p:nvPr/>
        </p:nvSpPr>
        <p:spPr>
          <a:xfrm>
            <a:off x="1428750" y="390525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SY 后端 / API</a:t>
            </a:r>
            <a:endParaRPr sz="105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190750" y="3943350"/>
            <a:ext cx="533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8001</a:t>
            </a:r>
            <a:endParaRPr sz="79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143250" y="3810000"/>
            <a:ext cx="1809750" cy="438150"/>
          </a:xfrm>
          <a:prstGeom prst="rect">
            <a:avLst/>
          </a:prstGeom>
          <a:solidFill>
            <a:srgbClr val="FBFAF6"/>
          </a:solidFill>
          <a:ln w="9525">
            <a:solidFill>
              <a:srgbClr val="D7D3C8"/>
            </a:solidFill>
            <a:prstDash val="solid"/>
          </a:ln>
        </p:spPr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57550" y="3924300"/>
            <a:ext cx="171450" cy="171450"/>
          </a:xfrm>
          <a:prstGeom prst="rect">
            <a:avLst/>
          </a:prstGeom>
        </p:spPr>
      </p:pic>
      <p:sp>
        <p:nvSpPr>
          <p:cNvPr id="24" name="矩形 23"/>
          <p:cNvSpPr>
            <a:spLocks noGrp="1"/>
          </p:cNvSpPr>
          <p:nvPr/>
        </p:nvSpPr>
        <p:spPr>
          <a:xfrm>
            <a:off x="3524250" y="390525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PostgreSQL</a:t>
            </a:r>
            <a:endParaRPr sz="105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286250" y="3943350"/>
            <a:ext cx="533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持久数据</a:t>
            </a:r>
            <a:endParaRPr sz="79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047750" y="4400550"/>
            <a:ext cx="1809750" cy="438150"/>
          </a:xfrm>
          <a:prstGeom prst="rect">
            <a:avLst/>
          </a:prstGeom>
          <a:solidFill>
            <a:srgbClr val="DDF5F7"/>
          </a:solidFill>
          <a:ln w="9525">
            <a:solidFill>
              <a:srgbClr val="D7D3C8"/>
            </a:solidFill>
            <a:prstDash val="solid"/>
          </a:ln>
        </p:spPr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2050" y="4514850"/>
            <a:ext cx="171450" cy="171450"/>
          </a:xfrm>
          <a:prstGeom prst="rect">
            <a:avLst/>
          </a:prstGeom>
        </p:spPr>
      </p:pic>
      <p:sp>
        <p:nvSpPr>
          <p:cNvPr id="28" name="矩形 27"/>
          <p:cNvSpPr>
            <a:spLocks noGrp="1"/>
          </p:cNvSpPr>
          <p:nvPr/>
        </p:nvSpPr>
        <p:spPr>
          <a:xfrm>
            <a:off x="1428750" y="449580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Redis / Streams</a:t>
            </a:r>
            <a:endParaRPr sz="105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304290" y="4686300"/>
            <a:ext cx="76644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缓存</a:t>
            </a:r>
            <a:r>
              <a:rPr lang="en-US"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/</a:t>
            </a:r>
            <a:r>
              <a: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消息</a:t>
            </a:r>
            <a:endParaRPr lang="zh-CN" sz="79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3143250" y="4400550"/>
            <a:ext cx="1809750" cy="438150"/>
          </a:xfrm>
          <a:prstGeom prst="rect">
            <a:avLst/>
          </a:prstGeom>
          <a:solidFill>
            <a:srgbClr val="FBFAF6"/>
          </a:solidFill>
          <a:ln w="9525">
            <a:solidFill>
              <a:srgbClr val="D7D3C8"/>
            </a:solidFill>
            <a:prstDash val="solid"/>
          </a:ln>
        </p:spPr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57550" y="4514850"/>
            <a:ext cx="171450" cy="171450"/>
          </a:xfrm>
          <a:prstGeom prst="rect">
            <a:avLst/>
          </a:prstGeom>
        </p:spPr>
      </p:pic>
      <p:sp>
        <p:nvSpPr>
          <p:cNvPr id="32" name="矩形 31"/>
          <p:cNvSpPr>
            <a:spLocks noGrp="1"/>
          </p:cNvSpPr>
          <p:nvPr/>
        </p:nvSpPr>
        <p:spPr>
          <a:xfrm>
            <a:off x="3524250" y="449580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Celery / Nginx</a:t>
            </a:r>
            <a:endParaRPr sz="105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3697605" y="4714875"/>
            <a:ext cx="533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任务</a:t>
            </a:r>
            <a:r>
              <a:rPr lang="en-US"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/</a:t>
            </a:r>
            <a:r>
              <a: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代理</a:t>
            </a:r>
            <a:endParaRPr sz="79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724650" y="2457450"/>
            <a:ext cx="400050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1D8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010400" y="27241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0D3B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0D3B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现场边缘侧</a:t>
            </a:r>
            <a:endParaRPr sz="1800" b="1">
              <a:solidFill>
                <a:srgbClr val="0D3B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7010400" y="3295650"/>
            <a:ext cx="3143250" cy="514350"/>
          </a:xfrm>
          <a:prstGeom prst="rect">
            <a:avLst/>
          </a:prstGeom>
          <a:solidFill>
            <a:srgbClr val="FBFAF6"/>
          </a:solidFill>
          <a:ln w="9525">
            <a:solidFill>
              <a:srgbClr val="D7D3C8"/>
            </a:solidFill>
            <a:prstDash val="solid"/>
          </a:ln>
        </p:spPr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00900" y="3400425"/>
            <a:ext cx="180975" cy="180975"/>
          </a:xfrm>
          <a:prstGeom prst="rect">
            <a:avLst/>
          </a:prstGeom>
        </p:spPr>
      </p:pic>
      <p:sp>
        <p:nvSpPr>
          <p:cNvPr id="38" name="矩形 37"/>
          <p:cNvSpPr>
            <a:spLocks noGrp="1"/>
          </p:cNvSpPr>
          <p:nvPr/>
        </p:nvSpPr>
        <p:spPr>
          <a:xfrm>
            <a:off x="7477125" y="3381375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9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9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bt_agent</a:t>
            </a:r>
            <a:endParaRPr sz="109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7505700" y="3609975"/>
            <a:ext cx="2247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1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BT UDP 数据采集与命令发送</a:t>
            </a:r>
            <a:endParaRPr sz="81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7010400" y="3962400"/>
            <a:ext cx="3143250" cy="514350"/>
          </a:xfrm>
          <a:prstGeom prst="rect">
            <a:avLst/>
          </a:prstGeom>
          <a:solidFill>
            <a:srgbClr val="FBFAF6"/>
          </a:solidFill>
          <a:ln w="9525">
            <a:solidFill>
              <a:srgbClr val="D7D3C8"/>
            </a:solidFill>
            <a:prstDash val="solid"/>
          </a:ln>
        </p:spPr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00900" y="4067175"/>
            <a:ext cx="180975" cy="180975"/>
          </a:xfrm>
          <a:prstGeom prst="rect">
            <a:avLst/>
          </a:prstGeom>
        </p:spPr>
      </p:pic>
      <p:sp>
        <p:nvSpPr>
          <p:cNvPr id="42" name="矩形 41"/>
          <p:cNvSpPr>
            <a:spLocks noGrp="1"/>
          </p:cNvSpPr>
          <p:nvPr/>
        </p:nvSpPr>
        <p:spPr>
          <a:xfrm>
            <a:off x="7477125" y="4048125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9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9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bt_agent_serial</a:t>
            </a:r>
            <a:endParaRPr sz="109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7505700" y="4276725"/>
            <a:ext cx="2247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1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BT 串口 TestData 帧读取</a:t>
            </a:r>
            <a:endParaRPr sz="81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7010400" y="4629150"/>
            <a:ext cx="3143250" cy="514350"/>
          </a:xfrm>
          <a:prstGeom prst="rect">
            <a:avLst/>
          </a:prstGeom>
          <a:solidFill>
            <a:srgbClr val="FFF0D6"/>
          </a:solidFill>
          <a:ln w="9525">
            <a:solidFill>
              <a:srgbClr val="D7D3C8"/>
            </a:solidFill>
            <a:prstDash val="solid"/>
          </a:ln>
        </p:spPr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00900" y="4733925"/>
            <a:ext cx="180975" cy="180975"/>
          </a:xfrm>
          <a:prstGeom prst="rect">
            <a:avLst/>
          </a:prstGeom>
        </p:spPr>
      </p:pic>
      <p:sp>
        <p:nvSpPr>
          <p:cNvPr id="46" name="矩形 45"/>
          <p:cNvSpPr>
            <a:spLocks noGrp="1"/>
          </p:cNvSpPr>
          <p:nvPr/>
        </p:nvSpPr>
        <p:spPr>
          <a:xfrm>
            <a:off x="7477125" y="4714875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9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9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sy_agent</a:t>
            </a:r>
            <a:endParaRPr sz="109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7505700" y="4943475"/>
            <a:ext cx="2247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1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SY 串口收发与运行状态输出</a:t>
            </a:r>
            <a:endParaRPr sz="81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5467350" y="3752850"/>
            <a:ext cx="1200150" cy="38100"/>
          </a:xfrm>
          <a:prstGeom prst="rect">
            <a:avLst/>
          </a:prstGeom>
          <a:solidFill>
            <a:srgbClr val="11A6B3"/>
          </a:solidFill>
          <a:ln w="0">
            <a:solidFill>
              <a:srgbClr val="11A6B3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5600700" y="3943350"/>
            <a:ext cx="990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9068"/>
          </a:bodyPr>
          <a:lstStyle/>
          <a:p>
            <a:pPr algn="ctr">
              <a:lnSpc>
                <a:spcPct val="110000"/>
              </a:lnSpc>
              <a:buNone/>
              <a:defRPr sz="975" b="1">
                <a:solidFill>
                  <a:srgbClr val="0D3B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0D3B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Redis Streams</a:t>
            </a:r>
            <a:endParaRPr sz="975" b="1">
              <a:solidFill>
                <a:srgbClr val="0D3B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lnSpc>
                <a:spcPct val="110000"/>
              </a:lnSpc>
              <a:buNone/>
              <a:defRPr sz="975" b="1">
                <a:solidFill>
                  <a:srgbClr val="0D3B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0D3B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解耦采集与控制</a:t>
            </a:r>
            <a:endParaRPr sz="975" b="1">
              <a:solidFill>
                <a:srgbClr val="0D3B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0" name="椭圆 49"/>
          <p:cNvSpPr>
            <a:spLocks noGrp="1"/>
          </p:cNvSpPr>
          <p:nvPr/>
        </p:nvSpPr>
        <p:spPr>
          <a:xfrm>
            <a:off x="5429250" y="3733800"/>
            <a:ext cx="114300" cy="114300"/>
          </a:xfrm>
          <a:prstGeom prst="ellipse">
            <a:avLst/>
          </a:prstGeom>
          <a:solidFill>
            <a:srgbClr val="11A6B3"/>
          </a:solidFill>
          <a:ln w="0">
            <a:solidFill>
              <a:srgbClr val="11A6B3"/>
            </a:solidFill>
            <a:prstDash val="solid"/>
          </a:ln>
        </p:spPr>
      </p:sp>
      <p:sp>
        <p:nvSpPr>
          <p:cNvPr id="51" name="椭圆 50"/>
          <p:cNvSpPr>
            <a:spLocks noGrp="1"/>
          </p:cNvSpPr>
          <p:nvPr/>
        </p:nvSpPr>
        <p:spPr>
          <a:xfrm>
            <a:off x="6619875" y="3733800"/>
            <a:ext cx="114300" cy="114300"/>
          </a:xfrm>
          <a:prstGeom prst="ellipse">
            <a:avLst/>
          </a:prstGeom>
          <a:solidFill>
            <a:srgbClr val="11A6B3"/>
          </a:solidFill>
          <a:ln w="0">
            <a:solidFill>
              <a:srgbClr val="11A6B3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781050" y="5829300"/>
            <a:ext cx="8382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部署价值：现场网络复杂时，Agent 负责贴近设备，服务端负责权限、数据和页面，部署边界更清楚。</a:t>
            </a:r>
            <a:endParaRPr sz="120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666750" y="6515100"/>
            <a:ext cx="819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FNTL-MS100 贝通云网管系统 | 产品介绍</a:t>
            </a:r>
            <a:endParaRPr sz="750" b="0">
              <a:solidFill>
                <a:srgbClr val="8A83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11277600" y="641985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09</a:t>
            </a:r>
            <a:endParaRPr sz="975" b="0">
              <a:solidFill>
                <a:srgbClr val="8A83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2232"/>
          </a:solidFill>
          <a:ln w="0">
            <a:solidFill>
              <a:srgbClr val="0D2232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66750" y="504825"/>
            <a:ext cx="76200" cy="76200"/>
          </a:xfrm>
          <a:prstGeom prst="rect">
            <a:avLst/>
          </a:prstGeom>
          <a:solidFill>
            <a:srgbClr val="9ADCE3"/>
          </a:solidFill>
          <a:ln w="0">
            <a:solidFill>
              <a:srgbClr val="9ADCE3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838200" y="4572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9ADCE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9ADCE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建设路径</a:t>
            </a:r>
            <a:endParaRPr sz="975" b="1">
              <a:solidFill>
                <a:srgbClr val="9ADCE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66750" y="781050"/>
            <a:ext cx="7715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2544"/>
          </a:bodyPr>
          <a:lstStyle/>
          <a:p>
            <a:pPr algn="l">
              <a:lnSpc>
                <a:spcPct val="108000"/>
              </a:lnSpc>
              <a:buNone/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从可视化监控切入，逐步形成告警闭环和运维数据资产。</a:t>
            </a:r>
            <a:endParaRPr sz="32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752600"/>
            <a:ext cx="6572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D7EEF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D7EEF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面向长期值守、多设备接入、告警处置留痕和运行记录归档的现场管理场景。</a:t>
            </a:r>
            <a:endParaRPr sz="1500" b="0">
              <a:solidFill>
                <a:srgbClr val="D7EEF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2571750"/>
            <a:ext cx="2724150" cy="819150"/>
          </a:xfrm>
          <a:prstGeom prst="rect">
            <a:avLst/>
          </a:prstGeom>
          <a:solidFill>
            <a:srgbClr val="153548"/>
          </a:solidFill>
          <a:ln w="9525">
            <a:solidFill>
              <a:srgbClr val="31596A"/>
            </a:solidFill>
            <a:prstDash val="solid"/>
          </a:ln>
        </p:spPr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5350" y="2762250"/>
            <a:ext cx="228600" cy="228600"/>
          </a:xfrm>
          <a:prstGeom prst="rect">
            <a:avLst/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1219200" y="274320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多线路 / 多车间</a:t>
            </a:r>
            <a:endParaRPr sz="12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257300" y="3048000"/>
            <a:ext cx="1885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3090"/>
          </a:bodyPr>
          <a:lstStyle/>
          <a:p>
            <a:pPr algn="l">
              <a:lnSpc>
                <a:spcPct val="112000"/>
              </a:lnSpc>
              <a:buNone/>
              <a:defRPr sz="940" b="0">
                <a:solidFill>
                  <a:srgbClr val="B7D4D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0">
                <a:solidFill>
                  <a:srgbClr val="B7D4D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需要统一查看设备、线路和邻站关系。</a:t>
            </a:r>
            <a:endParaRPr sz="940" b="0">
              <a:solidFill>
                <a:srgbClr val="B7D4D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867150" y="2571750"/>
            <a:ext cx="2724150" cy="819150"/>
          </a:xfrm>
          <a:prstGeom prst="rect">
            <a:avLst/>
          </a:prstGeom>
          <a:solidFill>
            <a:srgbClr val="153548"/>
          </a:solidFill>
          <a:ln w="9525">
            <a:solidFill>
              <a:srgbClr val="31596A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8600" y="2762250"/>
            <a:ext cx="228600" cy="228600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4362450" y="274320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告警响应要求高</a:t>
            </a:r>
            <a:endParaRPr sz="12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400550" y="3048000"/>
            <a:ext cx="1885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3090"/>
          </a:bodyPr>
          <a:lstStyle/>
          <a:p>
            <a:pPr algn="l">
              <a:lnSpc>
                <a:spcPct val="112000"/>
              </a:lnSpc>
              <a:buNone/>
              <a:defRPr sz="940" b="0">
                <a:solidFill>
                  <a:srgbClr val="B7D4D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0">
                <a:solidFill>
                  <a:srgbClr val="B7D4D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需要声音提醒、颜色提示和确认记录。</a:t>
            </a:r>
            <a:endParaRPr sz="940" b="0">
              <a:solidFill>
                <a:srgbClr val="B7D4D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23900" y="3733800"/>
            <a:ext cx="2724150" cy="819150"/>
          </a:xfrm>
          <a:prstGeom prst="rect">
            <a:avLst/>
          </a:prstGeom>
          <a:solidFill>
            <a:srgbClr val="153548"/>
          </a:solidFill>
          <a:ln w="9525">
            <a:solidFill>
              <a:srgbClr val="31596A"/>
            </a:solidFill>
            <a:prstDash val="solid"/>
          </a:ln>
        </p:spPr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5350" y="3924300"/>
            <a:ext cx="228600" cy="228600"/>
          </a:xfrm>
          <a:prstGeom prst="rect">
            <a:avLst/>
          </a:prstGeom>
        </p:spPr>
      </p:pic>
      <p:sp>
        <p:nvSpPr>
          <p:cNvPr id="17" name="矩形 16"/>
          <p:cNvSpPr>
            <a:spLocks noGrp="1"/>
          </p:cNvSpPr>
          <p:nvPr/>
        </p:nvSpPr>
        <p:spPr>
          <a:xfrm>
            <a:off x="1219200" y="390525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运行记录要归档</a:t>
            </a:r>
            <a:endParaRPr sz="12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257300" y="4210050"/>
            <a:ext cx="1885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3090"/>
          </a:bodyPr>
          <a:lstStyle/>
          <a:p>
            <a:pPr algn="l">
              <a:lnSpc>
                <a:spcPct val="112000"/>
              </a:lnSpc>
              <a:buNone/>
              <a:defRPr sz="940" b="0">
                <a:solidFill>
                  <a:srgbClr val="B7D4D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0">
                <a:solidFill>
                  <a:srgbClr val="B7D4D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需要历史告警、动作和操作记录导出。</a:t>
            </a:r>
            <a:endParaRPr sz="940" b="0">
              <a:solidFill>
                <a:srgbClr val="B7D4D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867150" y="3733800"/>
            <a:ext cx="2724150" cy="819150"/>
          </a:xfrm>
          <a:prstGeom prst="rect">
            <a:avLst/>
          </a:prstGeom>
          <a:solidFill>
            <a:srgbClr val="153548"/>
          </a:solidFill>
          <a:ln w="9525">
            <a:solidFill>
              <a:srgbClr val="31596A"/>
            </a:solidFill>
            <a:prstDash val="solid"/>
          </a:ln>
        </p:spPr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38600" y="3924300"/>
            <a:ext cx="228600" cy="228600"/>
          </a:xfrm>
          <a:prstGeom prst="rect">
            <a:avLst/>
          </a:prstGeom>
        </p:spPr>
      </p:pic>
      <p:sp>
        <p:nvSpPr>
          <p:cNvPr id="21" name="矩形 20"/>
          <p:cNvSpPr>
            <a:spLocks noGrp="1"/>
          </p:cNvSpPr>
          <p:nvPr/>
        </p:nvSpPr>
        <p:spPr>
          <a:xfrm>
            <a:off x="4362450" y="390525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控制动作需授权</a:t>
            </a:r>
            <a:endParaRPr sz="12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400550" y="4210050"/>
            <a:ext cx="1885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940" b="0">
                <a:solidFill>
                  <a:srgbClr val="B7D4D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0">
                <a:solidFill>
                  <a:srgbClr val="B7D4D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需要验证、复核和审计边界。</a:t>
            </a:r>
            <a:endParaRPr sz="940" b="0">
              <a:solidFill>
                <a:srgbClr val="B7D4D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239000" y="2457450"/>
            <a:ext cx="3714750" cy="27813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1D8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524750" y="272415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D3B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0D3B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建设建议</a:t>
            </a:r>
            <a:endParaRPr sz="1875" b="1">
              <a:solidFill>
                <a:srgbClr val="0D3B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7572375" y="3286125"/>
            <a:ext cx="304800" cy="304800"/>
          </a:xfrm>
          <a:prstGeom prst="ellipse">
            <a:avLst/>
          </a:prstGeom>
          <a:solidFill>
            <a:srgbClr val="11A6B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572375" y="3352800"/>
            <a:ext cx="3048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79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058150" y="32575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接入评估</a:t>
            </a:r>
            <a:endParaRPr sz="1275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058150" y="3495675"/>
            <a:ext cx="2247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6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6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梳理设备、线路、账号和现场网络条件。</a:t>
            </a:r>
            <a:endParaRPr sz="96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715250" y="3629025"/>
            <a:ext cx="19050" cy="209550"/>
          </a:xfrm>
          <a:prstGeom prst="rect">
            <a:avLst/>
          </a:prstGeom>
          <a:solidFill>
            <a:srgbClr val="D7D3C8"/>
          </a:solidFill>
          <a:ln w="0">
            <a:solidFill>
              <a:srgbClr val="D7D3C8"/>
            </a:solidFill>
            <a:prstDash val="solid"/>
          </a:ln>
        </p:spPr>
      </p:sp>
      <p:sp>
        <p:nvSpPr>
          <p:cNvPr id="30" name="椭圆 29"/>
          <p:cNvSpPr>
            <a:spLocks noGrp="1"/>
          </p:cNvSpPr>
          <p:nvPr/>
        </p:nvSpPr>
        <p:spPr>
          <a:xfrm>
            <a:off x="7572375" y="3876675"/>
            <a:ext cx="304800" cy="304800"/>
          </a:xfrm>
          <a:prstGeom prst="ellipse">
            <a:avLst/>
          </a:prstGeom>
          <a:solidFill>
            <a:srgbClr val="F2A3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7572375" y="3943350"/>
            <a:ext cx="3048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79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058150" y="384810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分阶段上线</a:t>
            </a:r>
            <a:endParaRPr sz="1275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058150" y="4086225"/>
            <a:ext cx="2762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6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6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先接入重点线路/车间，验证设备数据和告警规则。</a:t>
            </a:r>
            <a:endParaRPr sz="96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715250" y="4219575"/>
            <a:ext cx="19050" cy="209550"/>
          </a:xfrm>
          <a:prstGeom prst="rect">
            <a:avLst/>
          </a:prstGeom>
          <a:solidFill>
            <a:srgbClr val="D7D3C8"/>
          </a:solidFill>
          <a:ln w="0">
            <a:solidFill>
              <a:srgbClr val="D7D3C8"/>
            </a:solidFill>
            <a:prstDash val="solid"/>
          </a:ln>
        </p:spPr>
      </p:sp>
      <p:sp>
        <p:nvSpPr>
          <p:cNvPr id="35" name="椭圆 34"/>
          <p:cNvSpPr>
            <a:spLocks noGrp="1"/>
          </p:cNvSpPr>
          <p:nvPr/>
        </p:nvSpPr>
        <p:spPr>
          <a:xfrm>
            <a:off x="7572375" y="4467225"/>
            <a:ext cx="304800" cy="304800"/>
          </a:xfrm>
          <a:prstGeom prst="ellipse">
            <a:avLst/>
          </a:prstGeom>
          <a:solidFill>
            <a:srgbClr val="2F9E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7572375" y="4533900"/>
            <a:ext cx="3048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79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058150" y="44386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流程固化</a:t>
            </a:r>
            <a:endParaRPr sz="1275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058150" y="4676775"/>
            <a:ext cx="272478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6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6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形成</a:t>
            </a:r>
            <a:r>
              <a:rPr lang="zh-CN" sz="96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设备巡视</a:t>
            </a:r>
            <a:r>
              <a:rPr lang="en-US" altLang="zh-CN" sz="96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、</a:t>
            </a:r>
            <a:r>
              <a:rPr sz="96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告警确认、记录</a:t>
            </a:r>
            <a:r>
              <a:rPr lang="zh-CN" sz="96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保持等</a:t>
            </a:r>
            <a:r>
              <a:rPr sz="96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流程。</a:t>
            </a:r>
            <a:endParaRPr sz="96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7239000" y="5467350"/>
            <a:ext cx="17145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0D8"/>
            </a:solidFill>
            <a:prstDash val="solid"/>
          </a:ln>
        </p:spPr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6"/>
          <a:srcRect t="15581" b="15581"/>
          <a:stretch>
            <a:fillRect/>
          </a:stretch>
        </p:blipFill>
        <p:spPr>
          <a:xfrm>
            <a:off x="7277100" y="5505450"/>
            <a:ext cx="1638300" cy="704850"/>
          </a:xfrm>
          <a:prstGeom prst="rect">
            <a:avLst/>
          </a:prstGeom>
        </p:spPr>
      </p:pic>
      <p:sp>
        <p:nvSpPr>
          <p:cNvPr id="41" name="矩形 40"/>
          <p:cNvSpPr>
            <a:spLocks noGrp="1"/>
          </p:cNvSpPr>
          <p:nvPr/>
        </p:nvSpPr>
        <p:spPr>
          <a:xfrm>
            <a:off x="9105900" y="5467350"/>
            <a:ext cx="17145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0D8"/>
            </a:solidFill>
            <a:prstDash val="solid"/>
          </a:ln>
        </p:spPr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7"/>
          <a:srcRect t="15581" b="15581"/>
          <a:stretch>
            <a:fillRect/>
          </a:stretch>
        </p:blipFill>
        <p:spPr>
          <a:xfrm>
            <a:off x="9144000" y="5505450"/>
            <a:ext cx="1638300" cy="704850"/>
          </a:xfrm>
          <a:prstGeom prst="rect">
            <a:avLst/>
          </a:prstGeom>
        </p:spPr>
      </p:pic>
      <p:sp>
        <p:nvSpPr>
          <p:cNvPr id="43" name="矩形 42"/>
          <p:cNvSpPr>
            <a:spLocks noGrp="1"/>
          </p:cNvSpPr>
          <p:nvPr/>
        </p:nvSpPr>
        <p:spPr>
          <a:xfrm>
            <a:off x="723900" y="5467350"/>
            <a:ext cx="5334000" cy="400050"/>
          </a:xfrm>
          <a:prstGeom prst="rect">
            <a:avLst/>
          </a:prstGeom>
          <a:solidFill>
            <a:srgbClr val="0D2232"/>
          </a:solidFill>
          <a:ln w="9525">
            <a:solidFill>
              <a:srgbClr val="3C7381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838200" y="5524500"/>
            <a:ext cx="5105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8235"/>
          </a:bodyPr>
          <a:lstStyle/>
          <a:p>
            <a:pPr algn="ctr">
              <a:defRPr sz="1275" b="1">
                <a:solidFill>
                  <a:srgbClr val="CDEFF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CDEFF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建设目标：先实现现场可视，再形成处置闭环和运维沉淀。</a:t>
            </a:r>
            <a:endParaRPr sz="1275" b="1">
              <a:solidFill>
                <a:srgbClr val="CDEFF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666750" y="6515100"/>
            <a:ext cx="819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FNTL-MS100 贝通云网管系统 | 产品介绍</a:t>
            </a:r>
            <a:endParaRPr sz="750" b="0">
              <a:solidFill>
                <a:srgbClr val="8A83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11277600" y="641985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</a:t>
            </a:r>
            <a:endParaRPr sz="975" b="0">
              <a:solidFill>
                <a:srgbClr val="8A83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2820</Words>
  <Application>WPS 文字</Application>
  <PresentationFormat>Converted Presentation</PresentationFormat>
  <Paragraphs>385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宋体</vt:lpstr>
      <vt:lpstr>Wingdings</vt:lpstr>
      <vt:lpstr>PingFang SC</vt:lpstr>
      <vt:lpstr>微软雅黑</vt:lpstr>
      <vt:lpstr>汉仪旗黑</vt:lpstr>
      <vt:lpstr>宋体</vt:lpstr>
      <vt:lpstr>Arial Unicode MS</vt:lpstr>
      <vt:lpstr>汉仪书宋二KW</vt:lpstr>
      <vt:lpstr>Calibri</vt:lpstr>
      <vt:lpstr>Helvetica Neue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杨子江</cp:lastModifiedBy>
  <cp:revision>4</cp:revision>
  <dcterms:created xsi:type="dcterms:W3CDTF">2026-06-01T06:58:37Z</dcterms:created>
  <dcterms:modified xsi:type="dcterms:W3CDTF">2026-06-01T06:58:37Z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73A74034110A34EB862C1D6A0DAD5D4A_42</vt:lpwstr>
  </property>
  <property fmtid="{D5CDD505-2E9C-101B-9397-08002B2CF9AE}" pid="3" name="KSOProductBuildVer">
    <vt:lpwstr>2052-12.1.25895.25895</vt:lpwstr>
  </property>
</Properties>
</file>