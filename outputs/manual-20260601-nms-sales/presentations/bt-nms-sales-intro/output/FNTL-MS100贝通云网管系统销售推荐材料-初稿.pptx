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3" Type="http://schemas.openxmlformats.org/officeDocument/2006/relationships/image" Target="../media/image1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Relationship Id="rId3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32.svg"/><Relationship Id="rId7" Type="http://schemas.openxmlformats.org/officeDocument/2006/relationships/image" Target="../media/image31.svg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3" Type="http://schemas.openxmlformats.org/officeDocument/2006/relationships/image" Target="../media/image27.svg"/><Relationship Id="rId2" Type="http://schemas.openxmlformats.org/officeDocument/2006/relationships/image" Target="../media/image4.sv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4.sv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image" Target="../media/image38.svg"/><Relationship Id="rId4" Type="http://schemas.openxmlformats.org/officeDocument/2006/relationships/image" Target="../media/image37.svg"/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232"/>
          </a:solidFill>
          <a:ln w="0">
            <a:solidFill>
              <a:srgbClr val="0D2232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232"/>
          </a:solidFill>
          <a:ln w="0">
            <a:solidFill>
              <a:srgbClr val="0D2232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rgbClr val="123B4E"/>
          </a:solidFill>
          <a:ln w="0">
            <a:solidFill>
              <a:srgbClr val="123B4E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781050"/>
            <a:ext cx="495300" cy="47625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057275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9ADCE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9ADCE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FNTL-MS100</a:t>
            </a:r>
            <a:endParaRPr sz="1350" b="1">
              <a:solidFill>
                <a:srgbClr val="9ADCE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1447800"/>
            <a:ext cx="5143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贝通云网管系统</a:t>
            </a:r>
            <a:endParaRPr sz="4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343150"/>
            <a:ext cx="609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D7EEF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D7EEF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销售推荐材料｜集中监控、告警闭环、记录追溯、授权控制</a:t>
            </a:r>
            <a:endParaRPr sz="1650" b="0">
              <a:solidFill>
                <a:srgbClr val="D7EEF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3619500"/>
            <a:ext cx="1381125" cy="914400"/>
          </a:xfrm>
          <a:prstGeom prst="rect">
            <a:avLst/>
          </a:prstGeom>
          <a:solidFill>
            <a:srgbClr val="16384A"/>
          </a:solidFill>
          <a:ln w="9525">
            <a:solidFill>
              <a:srgbClr val="31596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38004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统一入口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41052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 / SY 双系统</a:t>
            </a:r>
            <a:endParaRPr sz="975" b="0">
              <a:solidFill>
                <a:srgbClr val="A9CA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62200" y="3619500"/>
            <a:ext cx="1381125" cy="914400"/>
          </a:xfrm>
          <a:prstGeom prst="rect">
            <a:avLst/>
          </a:prstGeom>
          <a:solidFill>
            <a:srgbClr val="16384A"/>
          </a:solidFill>
          <a:ln w="9525">
            <a:solidFill>
              <a:srgbClr val="31596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514600" y="38004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实时可视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514600" y="41052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拓扑 + 设备详情</a:t>
            </a:r>
            <a:endParaRPr sz="975" b="0">
              <a:solidFill>
                <a:srgbClr val="A9CA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981450" y="3619500"/>
            <a:ext cx="1381125" cy="914400"/>
          </a:xfrm>
          <a:prstGeom prst="rect">
            <a:avLst/>
          </a:prstGeom>
          <a:solidFill>
            <a:srgbClr val="16384A"/>
          </a:solidFill>
          <a:ln w="9525">
            <a:solidFill>
              <a:srgbClr val="31596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133850" y="38004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处置闭环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133850" y="41052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27"/>
          </a:bodyPr>
          <a:lstStyle/>
          <a:p>
            <a:pPr algn="l">
              <a:def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告警确认 + 声音提醒</a:t>
            </a:r>
            <a:endParaRPr sz="975" b="0">
              <a:solidFill>
                <a:srgbClr val="A9CA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00700" y="3619500"/>
            <a:ext cx="1381125" cy="914400"/>
          </a:xfrm>
          <a:prstGeom prst="rect">
            <a:avLst/>
          </a:prstGeom>
          <a:solidFill>
            <a:srgbClr val="16384A"/>
          </a:solidFill>
          <a:ln w="9525">
            <a:solidFill>
              <a:srgbClr val="31596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753100" y="38004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可追溯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753100" y="4105275"/>
            <a:ext cx="1076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27"/>
          </a:bodyPr>
          <a:lstStyle/>
          <a:p>
            <a:pPr algn="l">
              <a:def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A9CAD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记录导出 + 操作审计</a:t>
            </a:r>
            <a:endParaRPr sz="975" b="0">
              <a:solidFill>
                <a:srgbClr val="A9CAD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143750" y="876300"/>
            <a:ext cx="41910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0" y="964406"/>
            <a:ext cx="4076700" cy="2547938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7905750" y="3257550"/>
            <a:ext cx="342900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810" y="3314700"/>
            <a:ext cx="3230880" cy="2019300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7620000" y="5695950"/>
            <a:ext cx="3429000" cy="304800"/>
          </a:xfrm>
          <a:prstGeom prst="rect">
            <a:avLst/>
          </a:prstGeom>
          <a:solidFill>
            <a:srgbClr val="0D2232"/>
          </a:solidFill>
          <a:ln w="9525">
            <a:solidFill>
              <a:srgbClr val="3C738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734300" y="5753100"/>
            <a:ext cx="3200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CDEFF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DEFF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从状态发现到事件追溯的一套值守工作台</a:t>
            </a:r>
            <a:endParaRPr sz="975" b="1">
              <a:solidFill>
                <a:srgbClr val="CDEFF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2950" y="61722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9AB8C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9AB8C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版本：初稿 2026-06-01</a:t>
            </a:r>
            <a:endParaRPr sz="975" b="0">
              <a:solidFill>
                <a:srgbClr val="9AB8C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资料来源：FNTL-MS100 用户手册、项目概述、运维手册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客户痛点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42950"/>
            <a:ext cx="7429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575"/>
          </a:bodyPr>
          <a:lstStyle/>
          <a:p>
            <a:pPr algn="l">
              <a:lnSpc>
                <a:spcPct val="105000"/>
              </a:lnSpc>
              <a:buNone/>
              <a:defRPr sz="29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分散巡检、告警滞后和记录断点，会放大现场运维风险。</a:t>
            </a:r>
            <a:endParaRPr sz="292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619250"/>
            <a:ext cx="7762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808"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销售沟通的核心不是“多一个系统”，而是帮助客户把日常值守从经验判断变成可视、可查、可复核的流程。</a:t>
            </a:r>
            <a:endParaRPr sz="15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2457450"/>
            <a:ext cx="2476500" cy="438150"/>
          </a:xfrm>
          <a:prstGeom prst="rect">
            <a:avLst/>
          </a:prstGeom>
          <a:solidFill>
            <a:srgbClr val="0D3B4A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2590800"/>
            <a:ext cx="2171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客户现场常见问题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143250" y="2457450"/>
            <a:ext cx="2952750" cy="438150"/>
          </a:xfrm>
          <a:prstGeom prst="rect">
            <a:avLst/>
          </a:prstGeom>
          <a:solidFill>
            <a:srgbClr val="ECE7DD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295650" y="2590800"/>
            <a:ext cx="2647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风险表现</a:t>
            </a:r>
            <a:endParaRPr sz="112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0" y="2457450"/>
            <a:ext cx="2952750" cy="438150"/>
          </a:xfrm>
          <a:prstGeom prst="rect">
            <a:avLst/>
          </a:prstGeom>
          <a:solidFill>
            <a:srgbClr val="ECE7DD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248400" y="2590800"/>
            <a:ext cx="2647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系统应对</a:t>
            </a:r>
            <a:endParaRPr sz="112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048750" y="2457450"/>
            <a:ext cx="2190750" cy="438150"/>
          </a:xfrm>
          <a:prstGeom prst="rect">
            <a:avLst/>
          </a:prstGeom>
          <a:solidFill>
            <a:srgbClr val="ECE7DD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01150" y="2590800"/>
            <a:ext cx="1885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推荐时的讲法</a:t>
            </a:r>
            <a:endParaRPr sz="112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895600"/>
            <a:ext cx="2476500" cy="971550"/>
          </a:xfrm>
          <a:prstGeom prst="rect">
            <a:avLst/>
          </a:prstGeom>
          <a:solidFill>
            <a:srgbClr val="DDF5F7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19150" y="3067050"/>
            <a:ext cx="2171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状态看不全</a:t>
            </a:r>
            <a:endParaRPr sz="15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143250" y="289560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295650" y="30670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分散在不同设备、线路和后台页面，值守人员难以先看全局。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0" y="289560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248400" y="30670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统一拓扑总览，按设备/线路下钻到详情。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48750" y="2895600"/>
            <a:ext cx="2190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3067050"/>
            <a:ext cx="1885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让客户先看到“全局可视”的价值。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6750" y="3867150"/>
            <a:ext cx="2476500" cy="97155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19150" y="4038600"/>
            <a:ext cx="2171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告警闭环弱</a:t>
            </a:r>
            <a:endParaRPr sz="15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143250" y="386715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295650" y="403860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声音提醒、现场处理、确认记录容易脱节。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0" y="386715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248400" y="403860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当前告警、颜色提示、声音控制和确认记录联动。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048750" y="3867150"/>
            <a:ext cx="2190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201150" y="4038600"/>
            <a:ext cx="1885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强调“发现、确认、复盘”一条链。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66750" y="4838700"/>
            <a:ext cx="2476500" cy="971550"/>
          </a:xfrm>
          <a:prstGeom prst="rect">
            <a:avLst/>
          </a:prstGeom>
          <a:solidFill>
            <a:srgbClr val="E2F5EA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19150" y="5010150"/>
            <a:ext cx="2171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追溯成本高</a:t>
            </a:r>
            <a:endParaRPr sz="15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143250" y="483870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295650" y="50101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历史告警、继电器动作、用户操作分散，事后复盘慢。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096000" y="4838700"/>
            <a:ext cx="2952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248400" y="5010150"/>
            <a:ext cx="2647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多类记录集中查询，支持筛选、分页和导出。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048750" y="4838700"/>
            <a:ext cx="2190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201150" y="5010150"/>
            <a:ext cx="1885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把系统定位成运行数据资产入口。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依据：用户手册 V1.3.0、项目概述与运维手册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系统定位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42950"/>
            <a:ext cx="67627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851"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系统把 BT/SY 两类设备纳入统一控制台。</a:t>
            </a:r>
            <a:endParaRPr sz="31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287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640"/>
          </a:bodyPr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前端不直接接触现场设备；实时采集和下行控制通过 Redis Streams 与边缘 Agent 解耦，既适配现场链路，也保留后端权限和审计边界。</a:t>
            </a:r>
            <a:endParaRPr sz="14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2438400"/>
            <a:ext cx="1676400" cy="14097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3B4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2438400"/>
            <a:ext cx="1676400" cy="6667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前端控制台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280"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Vue 控制台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拓扑 / 告警 / 记录 / 控制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5000" y="3448050"/>
            <a:ext cx="228600" cy="2286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222885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438400" y="3124200"/>
            <a:ext cx="20955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609850" y="3076575"/>
            <a:ext cx="66675" cy="12382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476500" y="2438400"/>
            <a:ext cx="16764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476500" y="2438400"/>
            <a:ext cx="1676400" cy="66675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62890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 后端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62890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280"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Django / DRF / Channels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设备台账、告警、记录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3448050"/>
            <a:ext cx="228600" cy="22860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403860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248150" y="3124200"/>
            <a:ext cx="20955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419600" y="3076575"/>
            <a:ext cx="66675" cy="12382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286250" y="2438400"/>
            <a:ext cx="16764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286250" y="2438400"/>
            <a:ext cx="1676400" cy="66675"/>
          </a:xfrm>
          <a:prstGeom prst="rect">
            <a:avLst/>
          </a:prstGeom>
          <a:solidFill>
            <a:srgbClr val="F2A33A"/>
          </a:solidFill>
          <a:ln w="0">
            <a:solidFill>
              <a:srgbClr val="F2A33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3865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 后端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43865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三方向状态、原始帧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变化量事件、串口命令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4500" y="3448050"/>
            <a:ext cx="228600" cy="22860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584835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57900" y="3124200"/>
            <a:ext cx="20955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229350" y="3076575"/>
            <a:ext cx="66675" cy="12382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96000" y="2438400"/>
            <a:ext cx="16764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096000" y="2438400"/>
            <a:ext cx="1676400" cy="66675"/>
          </a:xfrm>
          <a:prstGeom prst="rect">
            <a:avLst/>
          </a:prstGeom>
          <a:solidFill>
            <a:srgbClr val="2F9E5E"/>
          </a:solidFill>
          <a:ln w="0">
            <a:solidFill>
              <a:srgbClr val="2F9E5E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24840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Redis Streams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4840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280"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stream:udp:packets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sy.raw / sy-serial-commands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4250" y="3448050"/>
            <a:ext cx="228600" cy="228600"/>
          </a:xfrm>
          <a:prstGeom prst="rect">
            <a:avLst/>
          </a:prstGeom>
        </p:spPr>
      </p:pic>
      <p:sp>
        <p:nvSpPr>
          <p:cNvPr id="37" name="矩形 36"/>
          <p:cNvSpPr>
            <a:spLocks noGrp="1"/>
          </p:cNvSpPr>
          <p:nvPr/>
        </p:nvSpPr>
        <p:spPr>
          <a:xfrm>
            <a:off x="765810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867650" y="3124200"/>
            <a:ext cx="20955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039100" y="3076575"/>
            <a:ext cx="66675" cy="12382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905750" y="2438400"/>
            <a:ext cx="16764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905750" y="2438400"/>
            <a:ext cx="1676400" cy="66675"/>
          </a:xfrm>
          <a:prstGeom prst="rect">
            <a:avLst/>
          </a:prstGeom>
          <a:solidFill>
            <a:srgbClr val="D9493F"/>
          </a:solidFill>
          <a:ln w="0">
            <a:solidFill>
              <a:srgbClr val="D9493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05815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 Agent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05815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Windows 受保护 Agent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UDP / 串口收发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3448050"/>
            <a:ext cx="228600" cy="228600"/>
          </a:xfrm>
          <a:prstGeom prst="rect">
            <a:avLst/>
          </a:prstGeom>
        </p:spPr>
      </p:pic>
      <p:sp>
        <p:nvSpPr>
          <p:cNvPr id="45" name="矩形 44"/>
          <p:cNvSpPr>
            <a:spLocks noGrp="1"/>
          </p:cNvSpPr>
          <p:nvPr/>
        </p:nvSpPr>
        <p:spPr>
          <a:xfrm>
            <a:off x="946785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677400" y="3124200"/>
            <a:ext cx="20955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848850" y="3076575"/>
            <a:ext cx="66675" cy="12382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715500" y="2438400"/>
            <a:ext cx="16764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715500" y="2438400"/>
            <a:ext cx="1676400" cy="66675"/>
          </a:xfrm>
          <a:prstGeom prst="rect">
            <a:avLst/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867900" y="26670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现场设备</a:t>
            </a:r>
            <a:endParaRPr sz="15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867900" y="3009900"/>
            <a:ext cx="1371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线路、车间、方向邻站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3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状态字 / 继电器 / 告警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53750" y="3448050"/>
            <a:ext cx="228600" cy="228600"/>
          </a:xfrm>
          <a:prstGeom prst="rect">
            <a:avLst/>
          </a:prstGeom>
        </p:spPr>
      </p:pic>
      <p:sp>
        <p:nvSpPr>
          <p:cNvPr id="53" name="矩形 52"/>
          <p:cNvSpPr>
            <a:spLocks noGrp="1"/>
          </p:cNvSpPr>
          <p:nvPr/>
        </p:nvSpPr>
        <p:spPr>
          <a:xfrm>
            <a:off x="11277600" y="3429000"/>
            <a:ext cx="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/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66750" y="4476750"/>
            <a:ext cx="10287000" cy="11430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62000" y="4838700"/>
            <a:ext cx="1104900" cy="304800"/>
          </a:xfrm>
          <a:prstGeom prst="rect">
            <a:avLst/>
          </a:prstGeom>
          <a:solidFill>
            <a:srgbClr val="DDF5F7"/>
          </a:solidFill>
          <a:ln w="9525">
            <a:solidFill>
              <a:srgbClr val="BCECF1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76300" y="48958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统一入口</a:t>
            </a:r>
            <a:endParaRPr sz="9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62000" y="52578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683"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BT/SY 登录后在同一套前端选择系统类型，减少值守切换成本。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238625" y="4838700"/>
            <a:ext cx="1104900" cy="304800"/>
          </a:xfrm>
          <a:prstGeom prst="rect">
            <a:avLst/>
          </a:prstGeom>
          <a:solidFill>
            <a:srgbClr val="FFF0D6"/>
          </a:solidFill>
          <a:ln w="9525">
            <a:solidFill>
              <a:srgbClr val="F6CD8B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4352925" y="48958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链路隔离</a:t>
            </a:r>
            <a:endParaRPr sz="9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4238625" y="52578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服务不直接控制现场串口或 UDP 通道，通过 Stream 与 Agent 交换。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715250" y="4838700"/>
            <a:ext cx="1104900" cy="304800"/>
          </a:xfrm>
          <a:prstGeom prst="rect">
            <a:avLst/>
          </a:prstGeom>
          <a:solidFill>
            <a:srgbClr val="DDF5F7"/>
          </a:solidFill>
          <a:ln w="9525">
            <a:solidFill>
              <a:srgbClr val="BCECF1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7829550" y="48958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审计留痕</a:t>
            </a:r>
            <a:endParaRPr sz="9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715250" y="52578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远程命令、继电器动作、用户操作等进入记录，便于复盘。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依据：用户手册 V1.3.0、项目概述与运维手册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实时监控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4857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拓扑总览：先看全局再下钻</a:t>
            </a:r>
            <a:endParaRPr sz="28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47800"/>
            <a:ext cx="494157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绿色、黄色、红色和灰色状态帮助快速定位设备与链路异常；左侧设备列表和详情页承接具体状态、邻站关系和单板信息。</a:t>
            </a:r>
            <a:endParaRPr sz="13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0" y="781050"/>
            <a:ext cx="5381625" cy="33718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0252" y="857250"/>
            <a:ext cx="5151120" cy="32194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5715000" y="4229100"/>
            <a:ext cx="5381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设备监控总览：拓扑、设备列表和全局指标</a:t>
            </a:r>
            <a:endParaRPr sz="9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2533650"/>
            <a:ext cx="4191000" cy="26193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" y="2609850"/>
            <a:ext cx="3947160" cy="2466975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62000" y="5229225"/>
            <a:ext cx="419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设备详情：邻站、网管板、方向状态、单板状态</a:t>
            </a:r>
            <a:endParaRPr sz="9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24500" y="4800600"/>
            <a:ext cx="1714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6900" y="4962525"/>
            <a:ext cx="200025" cy="200025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5972175" y="4943475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588"/>
          </a:bodyPr>
          <a:lstStyle/>
          <a:p>
            <a:pPr algn="l">
              <a:def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拓扑颜色先提示状态</a:t>
            </a:r>
            <a:endParaRPr sz="116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76900" y="52578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918"/>
          </a:bodyPr>
          <a:lstStyle/>
          <a:p>
            <a:pPr algn="l">
              <a:lnSpc>
                <a:spcPct val="110000"/>
              </a:lnSpc>
              <a:buNone/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先看颜色变化，再打开设备详情确认含义。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77125" y="4800600"/>
            <a:ext cx="1714500" cy="91440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9525" y="4962525"/>
            <a:ext cx="200025" cy="200025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7924800" y="4943475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单台设备可下钻</a:t>
            </a:r>
            <a:endParaRPr sz="116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29525" y="52578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918"/>
          </a:bodyPr>
          <a:lstStyle/>
          <a:p>
            <a:pPr algn="l">
              <a:lnSpc>
                <a:spcPct val="110000"/>
              </a:lnSpc>
              <a:buNone/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设备详情显示邻站关系、备注和方向状态。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429750" y="4800600"/>
            <a:ext cx="1714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2150" y="4962525"/>
            <a:ext cx="200025" cy="200025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9877425" y="4943475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588"/>
          </a:bodyPr>
          <a:lstStyle/>
          <a:p>
            <a:pPr algn="l">
              <a:def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声音开关适合值班席</a:t>
            </a:r>
            <a:endParaRPr sz="116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582150" y="525780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918"/>
          </a:bodyPr>
          <a:lstStyle/>
          <a:p>
            <a:pPr algn="l">
              <a:lnSpc>
                <a:spcPct val="110000"/>
              </a:lnSpc>
              <a:buNone/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可试音、暂停当前提示音，但不替代告警处理。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依据：用户手册 V1.3.0、项目概述与运维手册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告警闭环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533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告警提醒到确认，形成处理闭环</a:t>
            </a:r>
            <a:endParaRPr sz="27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09700"/>
            <a:ext cx="5334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销售推荐时要讲清楚：确认告警表示人员已知晓，不代表故障已恢复；系统的价值是把发现、响应和复盘连接起来。</a:t>
            </a:r>
            <a:endParaRPr sz="13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72250" y="742950"/>
            <a:ext cx="47625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7980" y="819150"/>
            <a:ext cx="4511040" cy="28194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572250" y="379095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当前告警列表：按系统、设备、告警含义筛选并确认</a:t>
            </a:r>
            <a:endParaRPr sz="9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2476500"/>
            <a:ext cx="2476500" cy="971550"/>
          </a:xfrm>
          <a:prstGeom prst="rect">
            <a:avLst/>
          </a:prstGeom>
          <a:solidFill>
            <a:srgbClr val="FCE7E4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914400" y="2647950"/>
            <a:ext cx="285750" cy="285750"/>
          </a:xfrm>
          <a:prstGeom prst="ellipse">
            <a:avLst/>
          </a:prstGeom>
          <a:solidFill>
            <a:srgbClr val="D9493F"/>
          </a:solidFill>
          <a:ln w="0">
            <a:solidFill>
              <a:srgbClr val="D9493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26955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2667000"/>
            <a:ext cx="209550" cy="20955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1581150" y="26479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出现提醒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95400" y="2952750"/>
            <a:ext cx="1771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页面顶部、拓扑颜色和入口数量同时提示。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29000" y="2476500"/>
            <a:ext cx="2476500" cy="97155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3581400" y="2647950"/>
            <a:ext cx="285750" cy="285750"/>
          </a:xfrm>
          <a:prstGeom prst="ellipse">
            <a:avLst/>
          </a:prstGeom>
          <a:solidFill>
            <a:srgbClr val="F2A33A"/>
          </a:solidFill>
          <a:ln w="0">
            <a:solidFill>
              <a:srgbClr val="F2A33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581400" y="26955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2400" y="2667000"/>
            <a:ext cx="209550" cy="20955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4248150" y="26479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人员确认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962400" y="2952750"/>
            <a:ext cx="1771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值守人员核对设备、告警码和起始时间。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2000" y="3771900"/>
            <a:ext cx="2476500" cy="971550"/>
          </a:xfrm>
          <a:prstGeom prst="rect">
            <a:avLst/>
          </a:prstGeom>
          <a:solidFill>
            <a:srgbClr val="DDF5F7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914400" y="3943350"/>
            <a:ext cx="285750" cy="285750"/>
          </a:xfrm>
          <a:prstGeom prst="ellipse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14400" y="39909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400" y="3962400"/>
            <a:ext cx="209550" cy="209550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581150" y="39433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现场处置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95400" y="4248150"/>
            <a:ext cx="1771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按现场流程处理，记录设备名称和结果。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29000" y="3771900"/>
            <a:ext cx="2476500" cy="971550"/>
          </a:xfrm>
          <a:prstGeom prst="rect">
            <a:avLst/>
          </a:prstGeom>
          <a:solidFill>
            <a:srgbClr val="E2F5EA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3581400" y="3943350"/>
            <a:ext cx="285750" cy="285750"/>
          </a:xfrm>
          <a:prstGeom prst="ellipse">
            <a:avLst/>
          </a:prstGeom>
          <a:solidFill>
            <a:srgbClr val="2F9E5E"/>
          </a:solidFill>
          <a:ln w="0">
            <a:solidFill>
              <a:srgbClr val="2F9E5E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581400" y="39909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2400" y="3962400"/>
            <a:ext cx="209550" cy="209550"/>
          </a:xfrm>
          <a:prstGeom prst="rect">
            <a:avLst/>
          </a:prstGeom>
        </p:spPr>
      </p:pic>
      <p:sp>
        <p:nvSpPr>
          <p:cNvPr id="33" name="矩形 32"/>
          <p:cNvSpPr>
            <a:spLocks noGrp="1"/>
          </p:cNvSpPr>
          <p:nvPr/>
        </p:nvSpPr>
        <p:spPr>
          <a:xfrm>
            <a:off x="4248150" y="39433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记录复盘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962400" y="4248150"/>
            <a:ext cx="1771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新的告警或状态变化会再次提醒并留痕。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238500" y="2943225"/>
            <a:ext cx="19050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952625" y="3524250"/>
            <a:ext cx="28575" cy="247650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238500" y="4238625"/>
            <a:ext cx="190500" cy="28575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762750" y="4286250"/>
            <a:ext cx="4191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991350" y="45148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推荐口径</a:t>
            </a:r>
            <a:endParaRPr sz="1350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943850" y="4457700"/>
            <a:ext cx="2628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5397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“系统不是只弹告警，而是把告警声音、设备颜色、人员确认、历史记录和导出复盘串成闭环。”</a:t>
            </a:r>
            <a:endParaRPr sz="1275" b="0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依据：用户手册 V1.3.0、项目概述与运维手册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记录追溯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7239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6369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历史记录把复盘、归档和责任追溯放在同一入口。</a:t>
            </a:r>
            <a:endParaRPr sz="30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66850"/>
            <a:ext cx="7715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历史告警、继电器动作和用户操作记录可按时间、线路、设备、告警码和确认状态筛选；导出文件用于交接班、事件复盘和客户内部归档。</a:t>
            </a:r>
            <a:endParaRPr sz="13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33425" y="2362200"/>
            <a:ext cx="5857875" cy="3448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842" y="2438400"/>
            <a:ext cx="5273040" cy="32956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733425" y="5886450"/>
            <a:ext cx="585787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记录查询：多类记录集中筛选、分页和导出</a:t>
            </a:r>
            <a:endParaRPr sz="9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0" y="2381250"/>
            <a:ext cx="3381375" cy="647700"/>
          </a:xfrm>
          <a:prstGeom prst="rect">
            <a:avLst/>
          </a:prstGeom>
          <a:solidFill>
            <a:srgbClr val="FCE7E4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8550" y="2543175"/>
            <a:ext cx="209550" cy="2095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753350" y="25241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历史告警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63000" y="2533650"/>
            <a:ext cx="1600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看开始/结束时间、持续时长、确认状态。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0" y="3219450"/>
            <a:ext cx="3381375" cy="647700"/>
          </a:xfrm>
          <a:prstGeom prst="rect">
            <a:avLst/>
          </a:prstGeom>
          <a:solidFill>
            <a:srgbClr val="FFF0D6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8550" y="3381375"/>
            <a:ext cx="209550" cy="20955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753350" y="33623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继电器动作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63000" y="3371850"/>
            <a:ext cx="1600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复核动作时间与现场处置是否一致。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39000" y="4057650"/>
            <a:ext cx="3381375" cy="647700"/>
          </a:xfrm>
          <a:prstGeom prst="rect">
            <a:avLst/>
          </a:prstGeom>
          <a:solidFill>
            <a:srgbClr val="DDF5F7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8550" y="4219575"/>
            <a:ext cx="209550" cy="20955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7753350" y="42005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用户操作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63000" y="4210050"/>
            <a:ext cx="1600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保留账号、时间和操作痕迹。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39000" y="4895850"/>
            <a:ext cx="3381375" cy="647700"/>
          </a:xfrm>
          <a:prstGeom prst="rect">
            <a:avLst/>
          </a:prstGeom>
          <a:solidFill>
            <a:srgbClr val="E2F5EA"/>
          </a:solidFill>
          <a:ln w="9525">
            <a:solidFill>
              <a:srgbClr val="D4D8DD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8550" y="5057775"/>
            <a:ext cx="209550" cy="209550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7753350" y="5038725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导出归档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763000" y="5048250"/>
            <a:ext cx="1600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xlsx 适合统计，csv 适合大数据量。</a:t>
            </a:r>
            <a:endParaRPr sz="101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239000" y="5962650"/>
            <a:ext cx="33813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96"/>
          </a:bodyPr>
          <a:lstStyle/>
          <a:p>
            <a:pPr algn="l">
              <a:lnSpc>
                <a:spcPct val="116000"/>
              </a:lnSpc>
              <a:buNone/>
              <a:def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销售要点：客户买到的不只是“查询页面”，而是一套可交接、可归档、可复盘的运行数据链。</a:t>
            </a:r>
            <a:endParaRPr sz="112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依据：用户手册 V1.3.0、项目概述与运维手册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安全控制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6953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13"/>
          </a:bodyPr>
          <a:lstStyle/>
          <a:p>
            <a:pPr algn="l">
              <a:lnSpc>
                <a:spcPct val="105000"/>
              </a:lnSpc>
              <a:buNone/>
              <a:defRPr sz="30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远程控制被放进授权、验证和审计边界里。</a:t>
            </a:r>
            <a:endParaRPr sz="30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47800"/>
            <a:ext cx="7524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系统支持远程命令入口，但销售介绍时应强调“受控能力”：二次验证、目标确认、记录留痕和现场授权流程必须配套。</a:t>
            </a:r>
            <a:endParaRPr sz="13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457450"/>
            <a:ext cx="4762500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50319"/>
            <a:ext cx="4610100" cy="2881313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85800" y="56007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远程控制命令窗口：验证通过后选择方向和模式</a:t>
            </a:r>
            <a:endParaRPr sz="9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0" y="2552700"/>
            <a:ext cx="21431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6267450" y="2762250"/>
            <a:ext cx="285750" cy="285750"/>
          </a:xfrm>
          <a:prstGeom prst="ellipse">
            <a:avLst/>
          </a:prstGeom>
          <a:solidFill>
            <a:srgbClr val="11A6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267450" y="28098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86550" y="27432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账号权限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86550" y="3028950"/>
            <a:ext cx="1285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98"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普通操作员不应接触高风险入口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72500" y="2552700"/>
            <a:ext cx="2143125" cy="99060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8743950" y="2762250"/>
            <a:ext cx="285750" cy="285750"/>
          </a:xfrm>
          <a:prstGeom prst="ellipse">
            <a:avLst/>
          </a:prstGeom>
          <a:solidFill>
            <a:srgbClr val="F2A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43950" y="28098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163050" y="27432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二次验证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63050" y="3028950"/>
            <a:ext cx="1285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98"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验证通过前不显示或不能执行命令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0" y="3810000"/>
            <a:ext cx="21431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6267450" y="4019550"/>
            <a:ext cx="285750" cy="285750"/>
          </a:xfrm>
          <a:prstGeom prst="ellipse">
            <a:avLst/>
          </a:prstGeom>
          <a:solidFill>
            <a:srgbClr val="11A6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67450" y="40671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86550" y="40005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目标复核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86550" y="4286250"/>
            <a:ext cx="1285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98"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确认本站/邻站、方向和模式后发送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572500" y="3810000"/>
            <a:ext cx="21431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8743950" y="4019550"/>
            <a:ext cx="285750" cy="285750"/>
          </a:xfrm>
          <a:prstGeom prst="ellipse">
            <a:avLst/>
          </a:prstGeom>
          <a:solidFill>
            <a:srgbClr val="11A6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743950" y="4067175"/>
            <a:ext cx="28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163050" y="40005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审计记录</a:t>
            </a:r>
            <a:endParaRPr sz="13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163050" y="4286250"/>
            <a:ext cx="1285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98"/>
          </a:bodyPr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查看页面提示、用户操作和状态变化</a:t>
            </a:r>
            <a:endParaRPr sz="97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96000" y="5219700"/>
            <a:ext cx="4619625" cy="400050"/>
          </a:xfrm>
          <a:prstGeom prst="rect">
            <a:avLst/>
          </a:prstGeom>
          <a:solidFill>
            <a:srgbClr val="0D3B4A"/>
          </a:solidFill>
          <a:ln w="9525">
            <a:solidFill>
              <a:srgbClr val="0D3B4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210300" y="5334000"/>
            <a:ext cx="43910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推荐话术：能远控，但不是随意远控；系统把控制动作放在权限和留痕下。</a:t>
            </a:r>
            <a:endParaRPr sz="94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依据：用户手册 V1.3.0、项目概述与运维手册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交付后运维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7810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006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管理员可维护参数、资料和后台台账，降低交付后依赖。</a:t>
            </a:r>
            <a:endParaRPr sz="30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66850"/>
            <a:ext cx="819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216"/>
          </a:bodyPr>
          <a:lstStyle/>
          <a:p>
            <a:pPr algn="l">
              <a:lnSpc>
                <a:spcPct val="118000"/>
              </a:lnSpc>
              <a:buNone/>
              <a:def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客户管理员不只“看页面”，还可以按权限维护运行参数、FAQ/文件资料和后台基础数据；高风险动作保留复核要求。</a:t>
            </a:r>
            <a:endParaRPr sz="13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476500"/>
            <a:ext cx="314325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2552700"/>
            <a:ext cx="2895600" cy="18097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85800" y="4686300"/>
            <a:ext cx="3143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49053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l">
              <a:def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系统设置</a:t>
            </a:r>
            <a:endParaRPr sz="16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521970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5089"/>
          </a:bodyPr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维护告警、声音、导出、清理和页面范围等运行参数。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248150" y="2476500"/>
            <a:ext cx="314325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975" y="2552700"/>
            <a:ext cx="2895600" cy="1809750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4248150" y="4686300"/>
            <a:ext cx="3143250" cy="95250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38650" y="49053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l">
              <a:def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帮助与资料管理</a:t>
            </a:r>
            <a:endParaRPr sz="16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438650" y="521970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发布 FAQ、操作说明、模板文件和维护资料。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0" y="2476500"/>
            <a:ext cx="314325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25" y="2552700"/>
            <a:ext cx="2895600" cy="180975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7810500" y="4686300"/>
            <a:ext cx="3143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001000" y="4905375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l">
              <a:def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后台台账维护</a:t>
            </a:r>
            <a:endParaRPr sz="16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01000" y="5219700"/>
            <a:ext cx="2724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维护设备、线路、用户和记录筛选导出入口。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5962650"/>
            <a:ext cx="990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销售要点：这套系统适合有长期值守和资料交接要求的客户，后续维护工作可以沉淀在系统里，而不是散落在个人电脑或纸面流程中。</a:t>
            </a:r>
            <a:endParaRPr sz="12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依据：用户手册 V1.3.0、项目概述与运维手册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D3B4A"/>
          </a:solidFill>
          <a:ln w="0">
            <a:solidFill>
              <a:srgbClr val="0D3B4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485775"/>
            <a:ext cx="76200" cy="762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4381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11A6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部署架构</a:t>
            </a:r>
            <a:endParaRPr sz="975" b="1">
              <a:solidFill>
                <a:srgbClr val="11A6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723900"/>
            <a:ext cx="7715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794"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服务端与边缘 Agent 解耦，适配现场网络和设备协议。</a:t>
            </a:r>
            <a:endParaRPr sz="30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466850"/>
            <a:ext cx="876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生产环境通过 Docker Compose 编排前端、BT/SY 后端、PostgreSQL、Redis、Celery、Nginx 等组件；Windows 侧 Agent 负责现场 UDP 或串口链路。</a:t>
            </a:r>
            <a:endParaRPr sz="13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457450"/>
            <a:ext cx="4667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7241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中心服务端</a:t>
            </a:r>
            <a:endParaRPr sz="1800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7750" y="3219450"/>
            <a:ext cx="1809750" cy="4381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050" y="3333750"/>
            <a:ext cx="171450" cy="17145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1428750" y="33147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Vue 前端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90750" y="3352800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38173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143250" y="3219450"/>
            <a:ext cx="1809750" cy="4381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7550" y="3333750"/>
            <a:ext cx="171450" cy="1714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3524250" y="33147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 后端 / API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86250" y="3352800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8000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47750" y="3810000"/>
            <a:ext cx="1809750" cy="4381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050" y="3924300"/>
            <a:ext cx="171450" cy="17145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1428750" y="39052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 后端 / API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190750" y="3943350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8001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143250" y="3810000"/>
            <a:ext cx="1809750" cy="4381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7550" y="3924300"/>
            <a:ext cx="171450" cy="17145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3524250" y="39052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PostgreSQL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286250" y="3943350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持久数据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47750" y="4400550"/>
            <a:ext cx="1809750" cy="438150"/>
          </a:xfrm>
          <a:prstGeom prst="rect">
            <a:avLst/>
          </a:prstGeom>
          <a:solidFill>
            <a:srgbClr val="DDF5F7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2050" y="4514850"/>
            <a:ext cx="171450" cy="1714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428750" y="44958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Redis / Streams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190750" y="4533900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缓存与消息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143250" y="4400550"/>
            <a:ext cx="1809750" cy="4381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57550" y="4514850"/>
            <a:ext cx="171450" cy="171450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3524250" y="449580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Celery / Nginx</a:t>
            </a:r>
            <a:endParaRPr sz="10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286250" y="4533900"/>
            <a:ext cx="533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任务与代理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724650" y="2457450"/>
            <a:ext cx="4000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010400" y="27241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现场边缘侧</a:t>
            </a:r>
            <a:endParaRPr sz="1800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010400" y="3295650"/>
            <a:ext cx="3143250" cy="5143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0900" y="3400425"/>
            <a:ext cx="180975" cy="180975"/>
          </a:xfrm>
          <a:prstGeom prst="rect">
            <a:avLst/>
          </a:prstGeom>
        </p:spPr>
      </p:pic>
      <p:sp>
        <p:nvSpPr>
          <p:cNvPr id="38" name="矩形 37"/>
          <p:cNvSpPr>
            <a:spLocks noGrp="1"/>
          </p:cNvSpPr>
          <p:nvPr/>
        </p:nvSpPr>
        <p:spPr>
          <a:xfrm>
            <a:off x="7477125" y="338137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bt_agent</a:t>
            </a:r>
            <a:endParaRPr sz="109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505700" y="3609975"/>
            <a:ext cx="2247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 UDP 数据采集与命令发送</a:t>
            </a:r>
            <a:endParaRPr sz="81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010400" y="3962400"/>
            <a:ext cx="3143250" cy="514350"/>
          </a:xfrm>
          <a:prstGeom prst="rect">
            <a:avLst/>
          </a:prstGeom>
          <a:solidFill>
            <a:srgbClr val="FBFAF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0900" y="4067175"/>
            <a:ext cx="180975" cy="180975"/>
          </a:xfrm>
          <a:prstGeom prst="rect">
            <a:avLst/>
          </a:prstGeom>
        </p:spPr>
      </p:pic>
      <p:sp>
        <p:nvSpPr>
          <p:cNvPr id="42" name="矩形 41"/>
          <p:cNvSpPr>
            <a:spLocks noGrp="1"/>
          </p:cNvSpPr>
          <p:nvPr/>
        </p:nvSpPr>
        <p:spPr>
          <a:xfrm>
            <a:off x="7477125" y="404812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bt_agent_serial</a:t>
            </a:r>
            <a:endParaRPr sz="109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505700" y="4276725"/>
            <a:ext cx="2247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BT 串口 TestData 帧读取</a:t>
            </a:r>
            <a:endParaRPr sz="81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010400" y="4629150"/>
            <a:ext cx="3143250" cy="514350"/>
          </a:xfrm>
          <a:prstGeom prst="rect">
            <a:avLst/>
          </a:prstGeom>
          <a:solidFill>
            <a:srgbClr val="FFF0D6"/>
          </a:solidFill>
          <a:ln w="9525">
            <a:solidFill>
              <a:srgbClr val="D7D3C8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0900" y="4733925"/>
            <a:ext cx="180975" cy="180975"/>
          </a:xfrm>
          <a:prstGeom prst="rect">
            <a:avLst/>
          </a:prstGeom>
        </p:spPr>
      </p:pic>
      <p:sp>
        <p:nvSpPr>
          <p:cNvPr id="46" name="矩形 45"/>
          <p:cNvSpPr>
            <a:spLocks noGrp="1"/>
          </p:cNvSpPr>
          <p:nvPr/>
        </p:nvSpPr>
        <p:spPr>
          <a:xfrm>
            <a:off x="7477125" y="471487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sy_agent</a:t>
            </a:r>
            <a:endParaRPr sz="109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505700" y="4943475"/>
            <a:ext cx="2247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 串口收发与运行状态输出</a:t>
            </a:r>
            <a:endParaRPr sz="81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467350" y="3752850"/>
            <a:ext cx="1200150" cy="38100"/>
          </a:xfrm>
          <a:prstGeom prst="rect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600700" y="39433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068"/>
          </a:bodyPr>
          <a:lstStyle/>
          <a:p>
            <a:pPr algn="ctr">
              <a:lnSpc>
                <a:spcPct val="110000"/>
              </a:lnSpc>
              <a:buNone/>
              <a:def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Redis Streams</a:t>
            </a:r>
            <a:endParaRPr sz="9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10000"/>
              </a:lnSpc>
              <a:buNone/>
              <a:def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解耦采集与控制</a:t>
            </a:r>
            <a:endParaRPr sz="9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5429250" y="3733800"/>
            <a:ext cx="114300" cy="114300"/>
          </a:xfrm>
          <a:prstGeom prst="ellipse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6619875" y="3733800"/>
            <a:ext cx="114300" cy="114300"/>
          </a:xfrm>
          <a:prstGeom prst="ellipse">
            <a:avLst/>
          </a:prstGeom>
          <a:solidFill>
            <a:srgbClr val="11A6B3"/>
          </a:solidFill>
          <a:ln w="0">
            <a:solidFill>
              <a:srgbClr val="11A6B3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81050" y="5829300"/>
            <a:ext cx="838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推荐价值：客户现场网络复杂时，Agent 负责贴近设备，服务端负责权限、数据和页面，部署边界更清楚。</a:t>
            </a:r>
            <a:endParaRPr sz="120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依据：用户手册 V1.3.0、项目概述与运维手册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232"/>
          </a:solidFill>
          <a:ln w="0">
            <a:solidFill>
              <a:srgbClr val="0D2232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504825"/>
            <a:ext cx="76200" cy="76200"/>
          </a:xfrm>
          <a:prstGeom prst="rect">
            <a:avLst/>
          </a:prstGeom>
          <a:solidFill>
            <a:srgbClr val="9ADCE3"/>
          </a:solidFill>
          <a:ln w="0">
            <a:solidFill>
              <a:srgbClr val="9ADCE3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4572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9ADCE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9ADCE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推荐路径</a:t>
            </a:r>
            <a:endParaRPr sz="975" b="1">
              <a:solidFill>
                <a:srgbClr val="9ADCE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781050"/>
            <a:ext cx="7715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544"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从可视化监控切入，再扩展到告警闭环和运维数据资产。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752600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D7EEF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D7EEF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适合需要长期值守、多设备接入、告警处置留痕和运行记录归档的客户现场。</a:t>
            </a:r>
            <a:endParaRPr sz="1500" b="0">
              <a:solidFill>
                <a:srgbClr val="D7EEF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571750"/>
            <a:ext cx="2724150" cy="819150"/>
          </a:xfrm>
          <a:prstGeom prst="rect">
            <a:avLst/>
          </a:prstGeom>
          <a:solidFill>
            <a:srgbClr val="153548"/>
          </a:solidFill>
          <a:ln w="9525">
            <a:solidFill>
              <a:srgbClr val="31596A"/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5350" y="2762250"/>
            <a:ext cx="228600" cy="2286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1219200" y="27432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多线路 / 多车间</a:t>
            </a:r>
            <a:endParaRPr sz="12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57300" y="304800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090"/>
          </a:bodyPr>
          <a:lstStyle/>
          <a:p>
            <a:pPr algn="l">
              <a:lnSpc>
                <a:spcPct val="112000"/>
              </a:lnSpc>
              <a:buNone/>
              <a:def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需要统一查看设备、线路和邻站关系。</a:t>
            </a:r>
            <a:endParaRPr sz="940" b="0">
              <a:solidFill>
                <a:srgbClr val="B7D4D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867150" y="2571750"/>
            <a:ext cx="2724150" cy="819150"/>
          </a:xfrm>
          <a:prstGeom prst="rect">
            <a:avLst/>
          </a:prstGeom>
          <a:solidFill>
            <a:srgbClr val="153548"/>
          </a:solidFill>
          <a:ln w="9525">
            <a:solidFill>
              <a:srgbClr val="31596A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8600" y="2762250"/>
            <a:ext cx="228600" cy="2286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4362450" y="27432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告警响应要求高</a:t>
            </a:r>
            <a:endParaRPr sz="12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00550" y="304800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090"/>
          </a:bodyPr>
          <a:lstStyle/>
          <a:p>
            <a:pPr algn="l">
              <a:lnSpc>
                <a:spcPct val="112000"/>
              </a:lnSpc>
              <a:buNone/>
              <a:def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需要声音提醒、颜色提示和确认记录。</a:t>
            </a:r>
            <a:endParaRPr sz="940" b="0">
              <a:solidFill>
                <a:srgbClr val="B7D4D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3733800"/>
            <a:ext cx="2724150" cy="819150"/>
          </a:xfrm>
          <a:prstGeom prst="rect">
            <a:avLst/>
          </a:prstGeom>
          <a:solidFill>
            <a:srgbClr val="153548"/>
          </a:solidFill>
          <a:ln w="9525">
            <a:solidFill>
              <a:srgbClr val="31596A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350" y="3924300"/>
            <a:ext cx="228600" cy="228600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1219200" y="39052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运行记录要归档</a:t>
            </a:r>
            <a:endParaRPr sz="12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57300" y="42100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090"/>
          </a:bodyPr>
          <a:lstStyle/>
          <a:p>
            <a:pPr algn="l">
              <a:lnSpc>
                <a:spcPct val="112000"/>
              </a:lnSpc>
              <a:buNone/>
              <a:def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需要历史告警、动作和操作记录导出。</a:t>
            </a:r>
            <a:endParaRPr sz="940" b="0">
              <a:solidFill>
                <a:srgbClr val="B7D4D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867150" y="3733800"/>
            <a:ext cx="2724150" cy="819150"/>
          </a:xfrm>
          <a:prstGeom prst="rect">
            <a:avLst/>
          </a:prstGeom>
          <a:solidFill>
            <a:srgbClr val="153548"/>
          </a:solidFill>
          <a:ln w="9525">
            <a:solidFill>
              <a:srgbClr val="31596A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8600" y="3924300"/>
            <a:ext cx="228600" cy="22860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4362450" y="39052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控制动作需授权</a:t>
            </a:r>
            <a:endParaRPr sz="12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00550" y="42100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B7D4D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需要验证、复核和审计边界。</a:t>
            </a:r>
            <a:endParaRPr sz="940" b="0">
              <a:solidFill>
                <a:srgbClr val="B7D4D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39000" y="2457450"/>
            <a:ext cx="3714750" cy="27813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1D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524750" y="27241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0D3B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建议推进方式</a:t>
            </a:r>
            <a:endParaRPr sz="1875" b="1">
              <a:solidFill>
                <a:srgbClr val="0D3B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7572375" y="3286125"/>
            <a:ext cx="304800" cy="304800"/>
          </a:xfrm>
          <a:prstGeom prst="ellipse">
            <a:avLst/>
          </a:prstGeom>
          <a:solidFill>
            <a:srgbClr val="11A6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572375" y="3352800"/>
            <a:ext cx="304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058150" y="32575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现场演示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58150" y="3495675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207"/>
          </a:bodyPr>
          <a:lstStyle/>
          <a:p>
            <a:pPr algn="l">
              <a:def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用拓扑、当前告警、设备详情讲清一线值守。</a:t>
            </a:r>
            <a:endParaRPr sz="96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715250" y="3629025"/>
            <a:ext cx="19050" cy="209550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7572375" y="3876675"/>
            <a:ext cx="304800" cy="304800"/>
          </a:xfrm>
          <a:prstGeom prst="ellipse">
            <a:avLst/>
          </a:prstGeom>
          <a:solidFill>
            <a:srgbClr val="F2A3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572375" y="3943350"/>
            <a:ext cx="304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58150" y="38481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小范围试点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58150" y="4086225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590"/>
          </a:bodyPr>
          <a:lstStyle/>
          <a:p>
            <a:pPr algn="l">
              <a:def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选定线路/车间，验证设备接入和告警口径。</a:t>
            </a:r>
            <a:endParaRPr sz="96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715250" y="4219575"/>
            <a:ext cx="19050" cy="209550"/>
          </a:xfrm>
          <a:prstGeom prst="rect">
            <a:avLst/>
          </a:prstGeom>
          <a:solidFill>
            <a:srgbClr val="D7D3C8"/>
          </a:solidFill>
          <a:ln w="0">
            <a:solidFill>
              <a:srgbClr val="D7D3C8"/>
            </a:solidFill>
            <a:prstDash val="solid"/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7572375" y="4467225"/>
            <a:ext cx="304800" cy="304800"/>
          </a:xfrm>
          <a:prstGeom prst="ellipse">
            <a:avLst/>
          </a:prstGeom>
          <a:solidFill>
            <a:srgbClr val="2F9E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572375" y="4533900"/>
            <a:ext cx="304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58150" y="44386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运维沉淀</a:t>
            </a:r>
            <a:endParaRPr sz="1275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58150" y="4676775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168"/>
          </a:bodyPr>
          <a:lstStyle/>
          <a:p>
            <a:pPr algn="l">
              <a:def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建立记录导出、FAQ、资料发布和权限流程。</a:t>
            </a:r>
            <a:endParaRPr sz="96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239000" y="5467350"/>
            <a:ext cx="1714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6"/>
          <a:srcRect t="15581" b="15581"/>
          <a:stretch>
            <a:fillRect/>
          </a:stretch>
        </p:blipFill>
        <p:spPr>
          <a:xfrm>
            <a:off x="7277100" y="5505450"/>
            <a:ext cx="1638300" cy="704850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9105900" y="5467350"/>
            <a:ext cx="1714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0D8"/>
            </a:solidFill>
            <a:prstDash val="solid"/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7"/>
          <a:srcRect t="15581" b="15581"/>
          <a:stretch>
            <a:fillRect/>
          </a:stretch>
        </p:blipFill>
        <p:spPr>
          <a:xfrm>
            <a:off x="9144000" y="5505450"/>
            <a:ext cx="1638300" cy="704850"/>
          </a:xfrm>
          <a:prstGeom prst="rect">
            <a:avLst/>
          </a:prstGeom>
        </p:spPr>
      </p:pic>
      <p:sp>
        <p:nvSpPr>
          <p:cNvPr id="43" name="矩形 42"/>
          <p:cNvSpPr>
            <a:spLocks noGrp="1"/>
          </p:cNvSpPr>
          <p:nvPr/>
        </p:nvSpPr>
        <p:spPr>
          <a:xfrm>
            <a:off x="723900" y="5467350"/>
            <a:ext cx="5334000" cy="400050"/>
          </a:xfrm>
          <a:prstGeom prst="rect">
            <a:avLst/>
          </a:prstGeom>
          <a:solidFill>
            <a:srgbClr val="0D2232"/>
          </a:solidFill>
          <a:ln w="9525">
            <a:solidFill>
              <a:srgbClr val="3C7381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38200" y="5524500"/>
            <a:ext cx="510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235"/>
          </a:bodyPr>
          <a:lstStyle/>
          <a:p>
            <a:pPr algn="ctr">
              <a:defRPr sz="1275" b="1">
                <a:solidFill>
                  <a:srgbClr val="CDEFF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DEFF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推荐结论：先让客户看见现场，再让客户管住流程。</a:t>
            </a:r>
            <a:endParaRPr sz="1275" b="1">
              <a:solidFill>
                <a:srgbClr val="CDEFF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66750" y="65151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依据：用户手册 V1.3.0、项目概述与运维手册</a:t>
            </a:r>
            <a:endParaRPr sz="750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1277600" y="6419850"/>
            <a:ext cx="32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8A83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975" b="0">
              <a:solidFill>
                <a:srgbClr val="8A83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2865</Words>
  <Application>WPS 文字</Application>
  <PresentationFormat>Converted Presentation</PresentationFormat>
  <Paragraphs>385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杨子江</cp:lastModifiedBy>
  <cp:revision>1</cp:revision>
  <dcterms:created xsi:type="dcterms:W3CDTF">2026-06-01T06:18:48Z</dcterms:created>
  <dcterms:modified xsi:type="dcterms:W3CDTF">2026-06-01T06:18:48Z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F7033E02C421123F48241D6A92C7363C_42</vt:lpwstr>
  </property>
  <property fmtid="{D5CDD505-2E9C-101B-9397-08002B2CF9AE}" pid="3" name="KSOProductBuildVer">
    <vt:lpwstr>2052-12.1.25895.25895</vt:lpwstr>
  </property>
</Properties>
</file>